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79" r:id="rId9"/>
    <p:sldId id="278" r:id="rId10"/>
    <p:sldId id="270" r:id="rId11"/>
    <p:sldId id="280" r:id="rId12"/>
    <p:sldId id="268" r:id="rId13"/>
    <p:sldId id="272" r:id="rId14"/>
    <p:sldId id="277" r:id="rId15"/>
    <p:sldId id="281" r:id="rId16"/>
    <p:sldId id="286" r:id="rId17"/>
    <p:sldId id="283" r:id="rId18"/>
    <p:sldId id="284" r:id="rId19"/>
    <p:sldId id="28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16" autoAdjust="0"/>
    <p:restoredTop sz="95179" autoAdjust="0"/>
  </p:normalViewPr>
  <p:slideViewPr>
    <p:cSldViewPr snapToGrid="0">
      <p:cViewPr varScale="1">
        <p:scale>
          <a:sx n="91" d="100"/>
          <a:sy n="91" d="100"/>
        </p:scale>
        <p:origin x="85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20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8/12/21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drawing/2010/main" xmlns:ns4="http://schemas.openxmlformats.org/officeDocument/2006/relationships" xmlns:ns5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398" y="2533597"/>
            <a:ext cx="6815669" cy="446794"/>
          </a:xfrm>
        </p:spPr>
        <p:txBody>
          <a:bodyPr>
            <a:normAutofit fontScale="90000"/>
          </a:bodyPr>
          <a:lstStyle/>
          <a:p>
            <a:r>
              <a:rPr lang="en-US" dirty="0" b="1"/>
              <a:t>PROJECT  B</a:t>
            </a:r>
          </a:p>
        </p:txBody>
      </p:sp>
      <p:sp>
        <p:nvSpPr>
          <p:cNvPr id="3" name="Subtitle 2">
            <a:extLst>
              <a:ext uri="{FF2B5EF4-FFF2-40B4-BE49-F238E27FC236}">
                <ns2:creationId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4005" y="3470002"/>
            <a:ext cx="6894062" cy="1867468"/>
          </a:xfrm>
        </p:spPr>
        <p:txBody>
          <a:bodyPr>
            <a:normAutofit/>
          </a:bodyPr>
          <a:lstStyle/>
          <a:p>
            <a:r>
              <a:rPr lang="en-US" dirty="0"/>
              <a:t>PROJECT TITLE: DEVELOPMENT OF A WEB-BASED LABORATORY INFORMATION MANAGEMENT SYSTEM (LIMS): A CASE OF YALA SUB-COUNTY HOSPITAL</a:t>
            </a:r>
          </a:p>
          <a:p>
            <a:r>
              <a:rPr lang="en-US" dirty="0"/>
              <a:t>PRESENTER: OWUOR COLLINS</a:t>
            </a:r>
          </a:p>
          <a:p>
            <a:r>
              <a:rPr lang="en-US" dirty="0"/>
              <a:t>REG NO: SCCI/01227/2022</a:t>
            </a:r>
          </a:p>
          <a:p>
            <a:r>
              <a:rPr lang="en-US" dirty="0"/>
              <a:t>SUPERVISORS: DR. EDWIN NGWAWE &amp; MR. PETER MAINA KARIUKI</a:t>
            </a:r>
          </a:p>
          <a:p>
            <a:r>
              <a:rPr lang="en-US" dirty="0"/>
              <a:t>DATE: APRIL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ns4:embed="rId2">
            <a:extLst>
              <a:ext uri="{28A0092B-C50C-407E-A947-70E740481C1C}">
                <ns3:useLocalDpi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870140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ns5:creationId val="1104161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517436"/>
            <a:ext cx="9601196" cy="721276"/>
          </a:xfrm>
        </p:spPr>
        <p:txBody>
          <a:bodyPr>
            <a:normAutofit fontScale="90000"/>
          </a:bodyPr>
          <a:lstStyle/>
          <a:p>
            <a:r>
              <a:rPr lang="en-US" dirty="0" b="1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014330"/>
            <a:ext cx="9601196" cy="3861538"/>
          </a:xfrm>
        </p:spPr>
        <p:txBody>
          <a:bodyPr>
            <a:normAutofit/>
          </a:bodyPr>
          <a:lstStyle/>
          <a:p>
            <a:pPr marL="285750" indent="-285750"/>
            <a:r>
              <a:rPr lang="en-US" dirty="0"/>
              <a:t>National Health Vision: Aligning with Kenya Vision 2030 and the National Digital Health Strategy to modernize public health infrastructure.</a:t>
            </a:r>
          </a:p>
          <a:p>
            <a:pPr marL="285750" indent="-285750"/>
            <a:r>
              <a:rPr lang="en-US" dirty="0"/>
              <a:t>Bridging the Digital Divide: Tertiary national referral hospitals (KNH, MTRH) have adopted EHRs, while rural Level 4 public facilities remain largely paper-bound.</a:t>
            </a:r>
          </a:p>
          <a:p>
            <a:pPr marL="285750" indent="-285750"/>
            <a:r>
              <a:rPr lang="en-US" dirty="0"/>
              <a:t>Critical Diagnostic Role: Medical laboratories represent the primary intersection for disease diagnosis, clinical decision-making, and epidemiological surveillance.</a:t>
            </a:r>
          </a:p>
          <a:p>
            <a:pPr marL="285750" indent="-285750"/>
            <a:r>
              <a:rPr lang="en-US" dirty="0"/>
              <a:t>Current Operational Reality: Laboratory workflows at Yala Sub-County Hospital operate entirely on manual Ministry of Health paper registers.</a:t>
            </a:r>
          </a:p>
          <a:p>
            <a:pPr marL="285750" indent="-285750"/>
            <a:r>
              <a:rPr lang="en-US" dirty="0"/>
              <a:t>The Solution: A localized, cost-effective, web-based Laboratory Information Management System (LIMS) engineered specifically for sub-county hospital operations.</a:t>
            </a:r>
          </a:p>
          <a:p>
            <a:pPr marL="285750" indent="-285750"/>
            <a:r>
              <a:rPr lang="en-US" dirty="0"/>
              <a:t>Project Outcome: Eliminates missing test slips, prevents handwriting transcription errors, automates billing, and enhances diagnostic turnaround time.</a:t>
            </a:r>
          </a:p>
        </p:txBody>
      </p:sp>
    </p:spTree>
    <p:extLst>
      <p:ext uri="{BB962C8B-B14F-4D97-AF65-F5344CB8AC3E}">
        <ns3:creationId val="187293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499464"/>
            <a:ext cx="9601196" cy="859920"/>
          </a:xfrm>
        </p:spPr>
        <p:txBody>
          <a:bodyPr/>
          <a:lstStyle/>
          <a:p>
            <a:r>
              <a:rPr lang="en-US" dirty="0" b="1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1043188"/>
            <a:ext cx="9601196" cy="5512157"/>
          </a:xfrm>
        </p:spPr>
        <p:txBody>
          <a:bodyPr>
            <a:normAutofit/>
          </a:bodyPr>
          <a:lstStyle/>
          <a:p>
            <a:pPr marL="285750" indent="-285750"/>
            <a:r>
              <a:rPr lang="en-US" dirty="0"/>
              <a:t>Facility Profile: Yala Sub-County Hospital is a Level 4 public healthcare facility located in Gem Sub-County, Siaya County, Western Kenya.</a:t>
            </a:r>
          </a:p>
          <a:p>
            <a:pPr marL="285750" indent="-285750"/>
            <a:r>
              <a:rPr lang="en-US" dirty="0"/>
              <a:t>Primary Referral Hub: Serves as the primary referral center for outpatient, inpatient, maternity, and specialized clinical diagnostics in the region.</a:t>
            </a:r>
          </a:p>
          <a:p>
            <a:pPr marL="285750" indent="-285750"/>
            <a:r>
              <a:rPr lang="en-US" dirty="0"/>
              <a:t>High Patient Throughput: Daily volume includes routine haematology, parasitology, urinalysis, clinical chemistry, and infectious disease screening.</a:t>
            </a:r>
          </a:p>
          <a:p>
            <a:pPr marL="285750" indent="-285750"/>
            <a:r>
              <a:rPr lang="en-US" dirty="0"/>
              <a:t>The Operational Bottleneck: The laboratory relies on physical MOH 204 request forms, massive MOH 240 paper registers, and hand-carried result slips.</a:t>
            </a:r>
          </a:p>
          <a:p>
            <a:pPr marL="285750" indent="-285750"/>
            <a:r>
              <a:rPr lang="en-US" dirty="0"/>
              <a:t>Fragmented Information Flow: Paper slips carried manually across departments result in frequent loss of records and diagnostic delays.</a:t>
            </a:r>
          </a:p>
          <a:p>
            <a:pPr marL="285750" indent="-285750"/>
            <a:r>
              <a:rPr lang="en-US" dirty="0"/>
              <a:t>Clinical Impact: Lack of immediate longitudinal history access impairs emergency care and compromises overall clinical workflow.</a:t>
            </a:r>
          </a:p>
        </p:txBody>
      </p:sp>
    </p:spTree>
    <p:extLst>
      <p:ext uri="{BB962C8B-B14F-4D97-AF65-F5344CB8AC3E}">
        <ns3:creationId val="3807269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548797"/>
            <a:ext cx="9601196" cy="912780"/>
          </a:xfrm>
        </p:spPr>
        <p:txBody>
          <a:bodyPr>
            <a:normAutofit fontScale="90000"/>
          </a:bodyPr>
          <a:lstStyle/>
          <a:p>
            <a:r>
              <a:rPr lang="en-US" dirty="0" b="1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606759"/>
            <a:ext cx="9601196" cy="3861538"/>
          </a:xfrm>
        </p:spPr>
        <p:txBody>
          <a:bodyPr/>
          <a:lstStyle/>
          <a:p>
            <a:pPr marL="285750" indent="-285750"/>
            <a:r>
              <a:rPr lang="en-US" dirty="0"/>
              <a:t>Turnaround Time (TAT) Delays: Lab technicians spend up to 40% of their working hours manually transcribing data rather than analyzing medical specimens.</a:t>
            </a:r>
          </a:p>
          <a:p>
            <a:pPr marL="285750" indent="-285750"/>
            <a:r>
              <a:rPr lang="en-US" dirty="0"/>
              <a:t>12% Monthly Lost Slips: Approximately 12% of physical result slips go missing between the lab and consultation rooms, forcing painful repeat blood draws.</a:t>
            </a:r>
          </a:p>
          <a:p>
            <a:pPr marL="285750" indent="-285750"/>
            <a:r>
              <a:rPr lang="en-US" dirty="0"/>
              <a:t>Transcription Errors: Illegible clinician handwriting on handwritten MOH 204 slips frequently leads to misread tests and incorrect treatment regimens.</a:t>
            </a:r>
          </a:p>
          <a:p>
            <a:pPr marL="285750" indent="-285750"/>
            <a:r>
              <a:rPr lang="en-US" dirty="0"/>
              <a:t>MOH Reporting Overhead: Compiling mandatory monthly epidemiological MOH reports requires an average of two full working days of manual tallying.</a:t>
            </a:r>
          </a:p>
          <a:p>
            <a:pPr marL="285750" indent="-285750"/>
            <a:r>
              <a:rPr lang="en-US" dirty="0"/>
              <a:t>Zero Audit Traceability: No verifiable trail exists to track who requested, collected, analyzed, or certified lab results, posing legal and medical risks.</a:t>
            </a:r>
          </a:p>
          <a:p>
            <a:pPr marL="285750" indent="-285750"/>
            <a:r>
              <a:rPr lang="en-US" dirty="0"/>
              <a:t>Revenue Leakage: Financial disconnections between consultation desks, laboratory queues, and cashiers result in uncollected diagnostic fees.</a:t>
            </a:r>
          </a:p>
        </p:txBody>
      </p:sp>
    </p:spTree>
    <p:extLst>
      <p:ext uri="{BB962C8B-B14F-4D97-AF65-F5344CB8AC3E}">
        <ns3:creationId val="1629994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577" y="564478"/>
            <a:ext cx="9601196" cy="950067"/>
          </a:xfrm>
        </p:spPr>
        <p:txBody>
          <a:bodyPr>
            <a:normAutofit/>
          </a:bodyPr>
          <a:lstStyle/>
          <a:p>
            <a:r>
              <a:rPr lang="en-US" dirty="0" b="1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83026"/>
            <a:ext cx="9601196" cy="4412974"/>
          </a:xfrm>
        </p:spPr>
        <p:txBody>
          <a:bodyPr>
            <a:normAutofit/>
          </a:bodyPr>
          <a:lstStyle/>
          <a:p>
            <a:r>
              <a:rPr lang="en-US" dirty="0" b="1"/>
              <a:t>General Objective:</a:t>
            </a:r>
          </a:p>
          <a:p>
            <a:pPr marL="285750" indent="-285750"/>
            <a:r>
              <a:rPr lang="en-US" dirty="0"/>
              <a:t>To design, develop, and deploy a web-based Laboratory Information Management System (LIMS) for Yala Sub-County Hospital that automates the testing lifecycle, ensures data accuracy, and improves laboratory efficiency.</a:t>
            </a:r>
          </a:p>
          <a:p>
            <a:r>
              <a:rPr lang="en-US" dirty="0" b="1"/>
              <a:t>Specific Objectives:</a:t>
            </a:r>
          </a:p>
          <a:p>
            <a:r>
              <a:rPr lang="en-US" dirty="0" b="1"/>
              <a:t>1. Design a Clinician Module (CPOE) that eliminates paper requests through electronic diagnostic test ordering.</a:t>
            </a:r>
          </a:p>
          <a:p>
            <a:r>
              <a:rPr lang="en-US" dirty="0" b="1"/>
              <a:t>2. Develop a Lab Accessioning Interface that assigns unique IDs to samples and monitors turnaround times.</a:t>
            </a:r>
          </a:p>
          <a:p>
            <a:r>
              <a:rPr lang="en-US" dirty="0" b="1"/>
              <a:t>3. Implement a Results Reporting Module providing secure entry, reference range validation, and automated PDF report generation (FPDF).</a:t>
            </a:r>
          </a:p>
          <a:p>
            <a:r>
              <a:rPr lang="en-US" dirty="0" b="1"/>
              <a:t>4. Create an Administrative Dashboard that automatically generates workload statistics, revenue reconciliation, and MOH analytics.</a:t>
            </a:r>
          </a:p>
          <a:p>
            <a:r>
              <a:rPr lang="en-US" dirty="0" b="1"/>
              <a:t>5. Validate system effectiveness and usability by conducting User Acceptance Testing (UAT) with hospital staff.</a:t>
            </a:r>
          </a:p>
        </p:txBody>
      </p:sp>
    </p:spTree>
    <p:extLst>
      <p:ext uri="{BB962C8B-B14F-4D97-AF65-F5344CB8AC3E}">
        <ns3:creationId val="913581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rPr lang="en-US" dirty="0" b="1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458474"/>
            <a:ext cx="9601196" cy="4800658"/>
          </a:xfrm>
        </p:spPr>
        <p:txBody>
          <a:bodyPr>
            <a:normAutofit/>
          </a:bodyPr>
          <a:lstStyle/>
          <a:p>
            <a:r>
              <a:rPr lang="en-US" dirty="0" b="1"/>
              <a:t>In Scope:</a:t>
            </a:r>
          </a:p>
          <a:p>
            <a:pPr marL="285750" indent="-285750"/>
            <a:r>
              <a:rPr lang="en-US" dirty="0"/>
              <a:t>• Relational MySQL database schema with data integrity and audit trail tables.</a:t>
            </a:r>
          </a:p>
          <a:p>
            <a:pPr marL="285750" indent="-285750"/>
            <a:r>
              <a:rPr lang="en-US" dirty="0"/>
              <a:t>• PHP 8.2 backend business logic and responsive Bootstrap 5 frontend interfaces.</a:t>
            </a:r>
          </a:p>
          <a:p>
            <a:pPr marL="285750" indent="-285750"/>
            <a:r>
              <a:rPr lang="en-US" dirty="0"/>
              <a:t>• Role-Based Access Control (RBAC) across 4 operational roles: Receptionist, Doctor, Lab Tech, Administrator.</a:t>
            </a:r>
          </a:p>
          <a:p>
            <a:pPr marL="285750" indent="-285750"/>
            <a:r>
              <a:rPr lang="en-US" dirty="0"/>
              <a:t>• Multi-channel billing: M-Pesa (with transaction codes), Cash, SHA/NHIF insurance, and Hospital Fee Waivers.</a:t>
            </a:r>
          </a:p>
          <a:p>
            <a:pPr marL="285750" indent="-285750"/>
            <a:r>
              <a:rPr lang="en-US" dirty="0"/>
              <a:t>• Clinical safety alerts: Automated warning banners for critical medical flags (e.g., severe penicillin allergy).</a:t>
            </a:r>
          </a:p>
          <a:p>
            <a:pPr marL="285750" indent="-285750"/>
            <a:r>
              <a:rPr lang="en-US" dirty="0"/>
              <a:t>• Automated disaster recovery: Daily background cron SQL dumps and manual administrator backup trigger.</a:t>
            </a:r>
          </a:p>
          <a:p>
            <a:r>
              <a:rPr lang="en-US" dirty="0" b="1"/>
              <a:t>Out of Scope:</a:t>
            </a:r>
          </a:p>
          <a:p>
            <a:pPr marL="285750" indent="-285750"/>
            <a:r>
              <a:rPr lang="en-US" dirty="0"/>
              <a:t>• Direct automated analyzer serial cable interfacing (designated for Phase 2).</a:t>
            </a:r>
          </a:p>
          <a:p>
            <a:pPr marL="285750" indent="-285750"/>
            <a:r>
              <a:rPr lang="en-US" dirty="0"/>
              <a:t>• National DHIS2 / KHIS platform direct API push (Phase 2).</a:t>
            </a:r>
          </a:p>
          <a:p>
            <a:pPr marL="285750" indent="-285750"/>
            <a:r>
              <a:rPr lang="en-US" dirty="0"/>
              <a:t>• Procurement of hospital-wide computer hardware and network cabling.</a:t>
            </a:r>
          </a:p>
        </p:txBody>
      </p:sp>
    </p:spTree>
    <p:extLst>
      <p:ext uri="{BB962C8B-B14F-4D97-AF65-F5344CB8AC3E}">
        <ns3:creationId val="2078098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rPr lang="en-US" dirty="0" b="1"/>
              <a:t>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/>
            <a:r>
              <a:rPr lang="en-US" dirty="0"/>
              <a:t>For Hospital Administration: Complete revenue assurance across cash, M-Pesa, and insurance; reduced stationery costs; automated reporting.</a:t>
            </a:r>
          </a:p>
          <a:p>
            <a:pPr marL="285750" indent="-285750"/>
            <a:r>
              <a:rPr lang="en-US" dirty="0"/>
              <a:t>For Clinicians: Instant desktop access to patient longitudinal records, eliminating reliance on misplaced physical files and highlighting critical allergy alerts.</a:t>
            </a:r>
          </a:p>
          <a:p>
            <a:pPr marL="285750" indent="-285750"/>
            <a:r>
              <a:rPr lang="en-US" dirty="0"/>
              <a:t>For Laboratory Technicians: Prioritized digital queue with 2-hour overdue tracking badges; zero handwriting deciphering; automated certified PDF outputs.</a:t>
            </a:r>
          </a:p>
          <a:p>
            <a:pPr marL="285750" indent="-285750"/>
            <a:r>
              <a:rPr lang="en-US" dirty="0"/>
              <a:t>For Patients: Dramatically reduced outpatient waiting times, eliminated repeat blood draws from lost slips, and reliable diagnostic records.</a:t>
            </a:r>
          </a:p>
          <a:p>
            <a:pPr marL="285750" indent="-285750"/>
            <a:r>
              <a:rPr lang="en-US" dirty="0"/>
              <a:t>For Ministry of Health &amp; County: Instant access to accurate, timely epidemiological disease surveillance data from Yala Sub-County.</a:t>
            </a:r>
          </a:p>
        </p:txBody>
      </p:sp>
    </p:spTree>
    <p:extLst>
      <p:ext uri="{BB962C8B-B14F-4D97-AF65-F5344CB8AC3E}">
        <ns3:creationId val="2411300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2094" y="815356"/>
            <a:ext cx="10277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latin typeface="Cambria"/>
                <a:cs typeface="Cambria"/>
              </a:rPr>
              <a:t>COST/REQUIREMENTS</a:t>
            </a: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Hardware Requirements:</a:t>
            </a:r>
          </a:p>
          <a:p>
            <a:pPr marL="285750" indent="-285750"/>
            <a:r>
              <a:rPr lang="en-US" dirty="0"/>
              <a:t>• Host Machine / Development Laptop: Intel Core i5, 8GB RAM, 500GB SSD — KES 90,000.</a:t>
            </a:r>
          </a:p>
          <a:p>
            <a:pPr marL="285750" indent="-285750"/>
            <a:r>
              <a:rPr lang="en-US" dirty="0"/>
              <a:t>• Mobile / Tablet Testing Devices: Standard Android smartphones/tablets — KES 20,000.</a:t>
            </a:r>
          </a:p>
          <a:p>
            <a:pPr marL="285750" indent="-285750"/>
            <a:r>
              <a:rPr lang="en-US" dirty="0"/>
              <a:t>• Power Backup: 650VA Uninterruptible Power Supply (UPS) for continuous server uptime — KES 8,000.</a:t>
            </a:r>
          </a:p>
          <a:p>
            <a:r>
              <a:rPr lang="en-US" dirty="0" b="1"/>
              <a:t>Software &amp; System Stack:</a:t>
            </a:r>
          </a:p>
          <a:p>
            <a:pPr marL="285750" indent="-285750"/>
            <a:r>
              <a:rPr lang="en-US" dirty="0"/>
              <a:t>• Operating System: Windows 10/11 64-bit / Linux Ubuntu Server.</a:t>
            </a:r>
          </a:p>
          <a:p>
            <a:pPr marL="285750" indent="-285750"/>
            <a:r>
              <a:rPr lang="en-US" dirty="0"/>
              <a:t>• Web Server &amp; Database: Apache 2.4, PHP 8.2, MySQL 8.0 via XAMPP (Free / Open Source).</a:t>
            </a:r>
          </a:p>
          <a:p>
            <a:pPr marL="285750" indent="-285750"/>
            <a:r>
              <a:rPr lang="en-US" dirty="0"/>
              <a:t>• Security &amp; Protection: 1-Year Kaspersky Antivirus License — KES 3,000.</a:t>
            </a:r>
          </a:p>
          <a:p>
            <a:r>
              <a:rPr lang="en-US" dirty="0" b="1"/>
              <a:t>Network &amp; Logistics:</a:t>
            </a:r>
          </a:p>
          <a:p>
            <a:pPr marL="285750" indent="-285750"/>
            <a:r>
              <a:rPr lang="en-US" dirty="0"/>
              <a:t>• 4-Month Dedicated Internet Subscription (development, GitHub backups, research) — KES 16,000.</a:t>
            </a:r>
          </a:p>
          <a:p>
            <a:pPr marL="285750" indent="-285750"/>
            <a:r>
              <a:rPr lang="en-US" dirty="0"/>
              <a:t>Total Projected Resource Requirements: KES 155,000 (Actual Direct Development Cost: KES 110,800).</a:t>
            </a:r>
          </a:p>
        </p:txBody>
      </p:sp>
    </p:spTree>
    <p:extLst>
      <p:ext uri="{BB962C8B-B14F-4D97-AF65-F5344CB8AC3E}">
        <ns2:creationId val="4063582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rPr lang="en-US" dirty="0" b="1"/>
              <a:t>PROJECT 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285750" indent="-285750"/>
            <a:r>
              <a:rPr lang="en-US" dirty="0"/>
              <a:t>Execution Framework: Executed over six months (Nov 2025 – Apr 2026) using iterative Agile methodology.</a:t>
            </a:r>
          </a:p>
          <a:p>
            <a:pPr marL="285750" indent="-285750"/>
            <a:r>
              <a:rPr lang="en-US" dirty="0"/>
              <a:t>Phase 1: Concept &amp; Requirements Gathering (Nov – Dec 2025): Problem analysis, site visits, and proposal preparation.</a:t>
            </a:r>
          </a:p>
          <a:p>
            <a:pPr marL="285750" indent="-285750"/>
            <a:r>
              <a:rPr lang="en-US" dirty="0"/>
              <a:t>Phase 2: Architectural Modeling &amp; Proposal Defense (Jan 2026): DFD, ERD modeling, literature review, and Project A defense.</a:t>
            </a:r>
          </a:p>
          <a:p>
            <a:r>
              <a:rPr lang="en-US" dirty="0" b="1"/>
              <a:t>Phase 3: Core Sprint Development (Feb – Mar 2026):</a:t>
            </a:r>
          </a:p>
          <a:p>
            <a:pPr marL="285750" indent="-285750"/>
            <a:r>
              <a:rPr lang="en-US" dirty="0"/>
              <a:t>  • Sprint 1: Authentication, RBAC, Patient Registration, Bulk CSV Import.</a:t>
            </a:r>
          </a:p>
          <a:p>
            <a:pPr marL="285750" indent="-285750"/>
            <a:r>
              <a:rPr lang="en-US" dirty="0"/>
              <a:t>  • Sprint 2: Electronic Test Ordering (CPOE), Catalogue Management, Payment Rows.</a:t>
            </a:r>
          </a:p>
          <a:p>
            <a:pPr marL="285750" indent="-285750"/>
            <a:r>
              <a:rPr lang="en-US" dirty="0"/>
              <a:t>  • Sprint 3: Lab Queue Accessioning, Results Entry, FPDF Reports, Audit Trail.</a:t>
            </a:r>
          </a:p>
          <a:p>
            <a:pPr marL="285750" indent="-285750"/>
            <a:r>
              <a:rPr lang="en-US" dirty="0"/>
              <a:t>  • Sprint 4: Admin Analytics Dashboard, Backup Routines, Claims Manager, Scheduling.</a:t>
            </a:r>
          </a:p>
          <a:p>
            <a:pPr marL="285750" indent="-285750"/>
            <a:r>
              <a:rPr lang="en-US" dirty="0"/>
              <a:t>Phase 4: Testing, UAT Validation &amp; Deployment (Apr 2026): UAT evaluation with 8 hospital staff, final report, Project B defense.</a:t>
            </a:r>
          </a:p>
        </p:txBody>
      </p:sp>
    </p:spTree>
    <p:extLst>
      <p:ext uri="{BB962C8B-B14F-4D97-AF65-F5344CB8AC3E}">
        <ns3:creationId val="596859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0856" y="608644"/>
            <a:ext cx="9601196" cy="1303867"/>
          </a:xfrm>
        </p:spPr>
        <p:txBody>
          <a:bodyPr>
            <a:normAutofit/>
          </a:bodyPr>
          <a:lstStyle/>
          <a:p>
            <a:r>
              <a:rPr lang="en-US" dirty="0" b="1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61375"/>
            <a:ext cx="9601196" cy="4673164"/>
          </a:xfrm>
        </p:spPr>
        <p:txBody>
          <a:bodyPr>
            <a:normAutofit/>
          </a:bodyPr>
          <a:lstStyle/>
          <a:p>
            <a:r>
              <a:rPr lang="en-US" dirty="0" b="1"/>
              <a:t>Evaluated Existing Healthcare Management Paradigms:</a:t>
            </a:r>
          </a:p>
          <a:p>
            <a:r>
              <a:rPr lang="en-US" dirty="0" b="1"/>
              <a:t>1. Manual MOH Paper Registers (MOH 204 &amp; MOH 240):</a:t>
            </a:r>
          </a:p>
          <a:p>
            <a:pPr marL="285750" indent="-285750"/>
            <a:r>
              <a:rPr lang="en-US" dirty="0"/>
              <a:t>   • Strengths: Familiar to hospital personnel; negligible initial software cost.</a:t>
            </a:r>
          </a:p>
          <a:p>
            <a:pPr marL="285750" indent="-285750"/>
            <a:r>
              <a:rPr lang="en-US" dirty="0"/>
              <a:t>   • Weaknesses: 12% lost slips monthly; transcription errors; 2 full days spent tallying monthly reports.</a:t>
            </a:r>
          </a:p>
          <a:p>
            <a:r>
              <a:rPr lang="en-US" dirty="0" b="1"/>
              <a:t>2. OpenMRS (Open Medical Record System — AMPATH Western Kenya):</a:t>
            </a:r>
          </a:p>
          <a:p>
            <a:pPr marL="285750" indent="-285750"/>
            <a:r>
              <a:rPr lang="en-US" dirty="0"/>
              <a:t>   • Strengths: Robust open-source platform; longitudinal HIV/AIDS patient tracking.</a:t>
            </a:r>
          </a:p>
          <a:p>
            <a:pPr marL="285750" indent="-285750"/>
            <a:r>
              <a:rPr lang="en-US" dirty="0"/>
              <a:t>   • Weaknesses: Heavy Java/React enterprise stack; requires specialized IT engineers and high-end servers.</a:t>
            </a:r>
          </a:p>
          <a:p>
            <a:r>
              <a:rPr lang="en-US" dirty="0" b="1"/>
              <a:t>3. Commercial Proprietary LIMS (LabWare, STARLIMS, Thermo Fisher):</a:t>
            </a:r>
          </a:p>
          <a:p>
            <a:pPr marL="285750" indent="-285750"/>
            <a:r>
              <a:rPr lang="en-US" dirty="0"/>
              <a:t>   • Strengths: Automated robotics and direct analyzer connectivity.</a:t>
            </a:r>
          </a:p>
          <a:p>
            <a:pPr marL="285750" indent="-285750"/>
            <a:r>
              <a:rPr lang="en-US" dirty="0"/>
              <a:t>   • Weaknesses: License fees run into millions of shillings; proprietary closed architecture.</a:t>
            </a:r>
          </a:p>
          <a:p>
            <a:r>
              <a:rPr lang="en-US" dirty="0" b="1"/>
              <a:t>4. Kenya EMR:</a:t>
            </a:r>
          </a:p>
          <a:p>
            <a:pPr marL="285750" indent="-285750"/>
            <a:r>
              <a:rPr lang="en-US" dirty="0"/>
              <a:t>   • Focused primarily on national HIV/TB indicator programs rather than hospital-wide laboratory billing and tracking.</a:t>
            </a:r>
          </a:p>
        </p:txBody>
      </p:sp>
    </p:spTree>
    <p:extLst>
      <p:ext uri="{BB962C8B-B14F-4D97-AF65-F5344CB8AC3E}">
        <ns3:creationId val="3029936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b="1"/>
              <a:t>LITERATURE REVIEW cont.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Critical Gaps Identified in Existing Literature &amp; Systems:</a:t>
            </a:r>
          </a:p>
          <a:p>
            <a:pPr marL="285750" indent="-285750"/>
            <a:r>
              <a:rPr lang="en-US" dirty="0"/>
              <a:t>• Departmental Data Silos: Disconnection between consultation rooms, the laboratory bench, and cashier desks.</a:t>
            </a:r>
          </a:p>
          <a:p>
            <a:pPr marL="285750" indent="-285750"/>
            <a:r>
              <a:rPr lang="en-US" dirty="0"/>
              <a:t>• Handwriting Illegibility: Critical diagnostic errors originating from misread clinical test orders.</a:t>
            </a:r>
          </a:p>
          <a:p>
            <a:pPr marL="285750" indent="-285750"/>
            <a:r>
              <a:rPr lang="en-US" dirty="0"/>
              <a:t>• Prohibitive Cost Barriers: Level 4 public hospitals lack capital budgets for multi-million shilling proprietary software.</a:t>
            </a:r>
          </a:p>
          <a:p>
            <a:pPr marL="285750" indent="-285750"/>
            <a:r>
              <a:rPr lang="en-US" dirty="0"/>
              <a:t>• Internet Vulnerability: Cloud-dependent systems suffer frequent work disruptions during rural fiber outages.</a:t>
            </a:r>
          </a:p>
          <a:p>
            <a:r>
              <a:rPr lang="en-US" dirty="0" b="1"/>
              <a:t>The Yala LIMS Proposed Solution:</a:t>
            </a:r>
          </a:p>
          <a:p>
            <a:pPr marL="285750" indent="-285750"/>
            <a:r>
              <a:rPr lang="en-US" dirty="0"/>
              <a:t>• Lightweight, Zero-Licensing Architecture: Built on standard PHP/MySQL running over the hospital Local Area Network (LAN).</a:t>
            </a:r>
          </a:p>
          <a:p>
            <a:pPr marL="285750" indent="-285750"/>
            <a:r>
              <a:rPr lang="en-US" dirty="0"/>
              <a:t>• Localized Billing Integration: Direct native support for M-Pesa mobile money, Cash, SHA/NHIF, and hospital waivers.</a:t>
            </a:r>
          </a:p>
          <a:p>
            <a:pPr marL="285750" indent="-285750"/>
            <a:r>
              <a:rPr lang="en-US" dirty="0"/>
              <a:t>• High Availability: 24/7 uninterrupted operation with zero dependency on active internet connection.</a:t>
            </a:r>
          </a:p>
        </p:txBody>
      </p:sp>
    </p:spTree>
    <p:extLst>
      <p:ext uri="{BB962C8B-B14F-4D97-AF65-F5344CB8AC3E}">
        <ns2:creationId val="1292349025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/>
          </a:bodyPr>
          <a:lstStyle/>
          <a:p>
            <a:r>
              <a:rPr lang="en-US" dirty="0" b="1"/>
              <a:t>METHODOLOGY/DEVELOPMENT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/>
          </a:bodyPr>
          <a:lstStyle/>
          <a:p>
            <a:pPr marL="285750" indent="-285750"/>
            <a:r>
              <a:rPr lang="en-US" dirty="0"/>
              <a:t>Software Development Methodology: Agile Methodology (4 Sprints).</a:t>
            </a:r>
          </a:p>
          <a:p>
            <a:pPr marL="285750" indent="-285750"/>
            <a:r>
              <a:rPr lang="en-US" dirty="0"/>
              <a:t>• Justification: Accommodates emerging clinical requirements; produces testable modules early for user feedback.</a:t>
            </a:r>
          </a:p>
          <a:p>
            <a:r>
              <a:rPr lang="en-US" dirty="0" b="1"/>
              <a:t>Data Collection Methods:</a:t>
            </a:r>
          </a:p>
          <a:p>
            <a:pPr marL="285750" indent="-285750"/>
            <a:r>
              <a:rPr lang="en-US" dirty="0"/>
              <a:t>• Direct Observation: 2 on-site workflow studies recording sample transit times and register bottlenecks.</a:t>
            </a:r>
          </a:p>
          <a:p>
            <a:pPr marL="285750" indent="-285750"/>
            <a:r>
              <a:rPr lang="en-US" dirty="0"/>
              <a:t>• Key Informant Interviews: In-depth sessions with the Medical Superintendent and Laboratory In-Charge.</a:t>
            </a:r>
          </a:p>
          <a:p>
            <a:pPr marL="285750" indent="-285750"/>
            <a:r>
              <a:rPr lang="en-US" dirty="0"/>
              <a:t>• Questionnaires: Structured surveys administered to 10 staff members across all departments.</a:t>
            </a:r>
          </a:p>
          <a:p>
            <a:r>
              <a:rPr lang="en-US" dirty="0" b="1"/>
              <a:t>System Design &amp; Modeling Tools:</a:t>
            </a:r>
          </a:p>
          <a:p>
            <a:pPr marL="285750" indent="-285750"/>
            <a:r>
              <a:rPr lang="en-US" dirty="0"/>
              <a:t>• Lucidchart (Flowcharts &amp; DFDs), Visual Paradigm Online (Use Cases), dbdiagram.io (ERD Schema).</a:t>
            </a:r>
          </a:p>
          <a:p>
            <a:r>
              <a:rPr lang="en-US" dirty="0" b="1"/>
              <a:t>Implementation Environment &amp; Tooling:</a:t>
            </a:r>
          </a:p>
          <a:p>
            <a:pPr marL="285750" indent="-285750"/>
            <a:r>
              <a:rPr lang="en-US" dirty="0"/>
              <a:t>• Visual Studio Code IDE with PHP Intelephense; XAMPP v8.2 local server; GitHub repository version control.</a:t>
            </a:r>
          </a:p>
        </p:txBody>
      </p:sp>
    </p:spTree>
    <p:extLst>
      <p:ext uri="{BB962C8B-B14F-4D97-AF65-F5344CB8AC3E}">
        <ns3:creationId val="909837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rPr lang="en-US" dirty="0" b="1"/>
              <a:t>SYSTEM ANALYSIS AND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r>
              <a:rPr lang="en-US" dirty="0" b="1"/>
              <a:t>System Feasibility Analysis:</a:t>
            </a:r>
          </a:p>
          <a:p>
            <a:pPr marL="285750" indent="-285750"/>
            <a:r>
              <a:rPr lang="en-US" dirty="0"/>
              <a:t>• Technical Feasibility: Hospital LAN and existing desktop workstation PCs fully support deployment with no new hardware.</a:t>
            </a:r>
          </a:p>
          <a:p>
            <a:pPr marL="285750" indent="-285750"/>
            <a:r>
              <a:rPr lang="en-US" dirty="0"/>
              <a:t>• Economic Feasibility: KES 110,800 development cost recovered through eliminated paper stationery and recovered un-billed tests.</a:t>
            </a:r>
          </a:p>
          <a:p>
            <a:pPr marL="285750" indent="-285750"/>
            <a:r>
              <a:rPr lang="en-US" dirty="0"/>
              <a:t>• Operational Feasibility: Digital screens mirror physical MOH registers; staff rated ease of use at 4.7 out of 5.0.</a:t>
            </a:r>
          </a:p>
          <a:p>
            <a:pPr marL="285750" indent="-285750"/>
            <a:r>
              <a:rPr lang="en-US" dirty="0"/>
              <a:t>• Schedule Feasibility: Successfully delivered across 4 Agile sprints within the academic calendar period.</a:t>
            </a:r>
          </a:p>
          <a:p>
            <a:r>
              <a:rPr lang="en-US" dirty="0" b="1"/>
              <a:t>User Role Profiles Identified:</a:t>
            </a:r>
          </a:p>
          <a:p>
            <a:pPr marL="285750" indent="-285750"/>
            <a:r>
              <a:rPr lang="en-US" dirty="0"/>
              <a:t>• Receptionist: Patient bio-data capture, bulk CSV uploads, payment collection, appointment bookings.</a:t>
            </a:r>
          </a:p>
          <a:p>
            <a:pPr marL="285750" indent="-285750"/>
            <a:r>
              <a:rPr lang="en-US" dirty="0"/>
              <a:t>• Doctor / Clinician: Longitudinal diagnostic history review, CPOE test requests, clinical flag allergy alerts.</a:t>
            </a:r>
          </a:p>
          <a:p>
            <a:pPr marL="285750" indent="-285750"/>
            <a:r>
              <a:rPr lang="en-US" dirty="0"/>
              <a:t>• Laboratory Technologist: Specimen accessioning, 2-hr overdue monitoring, results verification, certified PDF generation.</a:t>
            </a:r>
          </a:p>
          <a:p>
            <a:pPr marL="285750" indent="-285750"/>
            <a:r>
              <a:rPr lang="en-US" dirty="0"/>
              <a:t>• Administrator: System oversight, test catalogue pricing, user accounts, audit trails, disaster recovery backups.</a:t>
            </a:r>
          </a:p>
        </p:txBody>
      </p:sp>
    </p:spTree>
    <p:extLst>
      <p:ext uri="{BB962C8B-B14F-4D97-AF65-F5344CB8AC3E}">
        <ns3:creationId val="667655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rPr lang="en-US" dirty="0" b="1"/>
              <a:t>SYSTEM ANALYSIS AND REQUIREMENTS MODELING cont.</a:t>
            </a:r>
          </a:p>
        </p:txBody>
      </p:sp>
      <p:sp>
        <p:nvSpPr>
          <p:cNvPr id="3" name="Content Placeholder 2">
            <a:extLst>
              <a:ext uri="{FF2B5EF4-FFF2-40B4-BE49-F238E27FC236}">
                <ns2:creationId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r>
              <a:rPr lang="en-US" dirty="0" b="1"/>
              <a:t>Functional Requirements Specified:</a:t>
            </a:r>
          </a:p>
          <a:p>
            <a:pPr marL="285750" indent="-285750"/>
            <a:r>
              <a:rPr lang="en-US" dirty="0"/>
              <a:t>• Patient Registration: Unique OPD number generation, demographic validation, insurance details, CSV bulk import.</a:t>
            </a:r>
          </a:p>
          <a:p>
            <a:pPr marL="285750" indent="-285750"/>
            <a:r>
              <a:rPr lang="en-US" dirty="0"/>
              <a:t>• CPOE Ordering: Categorized test catalogue, automated fee tallying, electronic routing to laboratory queue.</a:t>
            </a:r>
          </a:p>
          <a:p>
            <a:pPr marL="285750" indent="-285750"/>
            <a:r>
              <a:rPr lang="en-US" dirty="0"/>
              <a:t>• Worklist &amp; Specimen Tracking: Real-time status indicators (Pending, In Progress, Completed, Overdue).</a:t>
            </a:r>
          </a:p>
          <a:p>
            <a:pPr marL="285750" indent="-285750"/>
            <a:r>
              <a:rPr lang="en-US" dirty="0"/>
              <a:t>• Result Certification: Normal reference ranges, automated abnormal result flags, certified FPDF PDF output.</a:t>
            </a:r>
          </a:p>
          <a:p>
            <a:pPr marL="285750" indent="-285750"/>
            <a:r>
              <a:rPr lang="en-US" dirty="0"/>
              <a:t>• Revenue &amp; Billing: Reconciles Cash receipts, M-Pesa transaction codes, SHA/NHIF claims, and authorized waivers.</a:t>
            </a:r>
          </a:p>
          <a:p>
            <a:r>
              <a:rPr lang="en-US" dirty="0" b="1"/>
              <a:t>Non-Functional Requirements Implemented:</a:t>
            </a:r>
          </a:p>
          <a:p>
            <a:pPr marL="285750" indent="-285750"/>
            <a:r>
              <a:rPr lang="en-US" dirty="0"/>
              <a:t>• Usability: Responsive Bootstrap 5 interface accessible on desktop PCs and mobile tablets.</a:t>
            </a:r>
          </a:p>
          <a:p>
            <a:pPr marL="285750" indent="-285750"/>
            <a:r>
              <a:rPr lang="en-US" dirty="0"/>
              <a:t>• Speed &amp; Performance: Sub-second page load times (&lt;1.5s) over the hospital Local Area Network.</a:t>
            </a:r>
          </a:p>
          <a:p>
            <a:pPr marL="285750" indent="-285750"/>
            <a:r>
              <a:rPr lang="en-US" dirty="0"/>
              <a:t>• System Security: Password hashing (Bcrypt), CSRF token verification, and 100% prepared statement execution.</a:t>
            </a:r>
          </a:p>
          <a:p>
            <a:pPr marL="285750" indent="-285750"/>
            <a:r>
              <a:rPr lang="en-US" dirty="0"/>
              <a:t>• Reliability: Automated daily database SQL backup script and manual administrative trigger.</a:t>
            </a:r>
          </a:p>
        </p:txBody>
      </p:sp>
    </p:spTree>
    <p:extLst>
      <p:ext uri="{BB962C8B-B14F-4D97-AF65-F5344CB8AC3E}">
        <ns3:creationId val="1898825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b="1"/>
              <a:t>SYSTEM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3-Tier Client-Server Architecture:</a:t>
            </a:r>
          </a:p>
          <a:p>
            <a:pPr marL="285750" indent="-285750"/>
            <a:r>
              <a:rPr lang="en-US" dirty="0"/>
              <a:t>• Presentation Tier: Bootstrap 5, FontAwesome 6, Chart.js for responsive data visualization.</a:t>
            </a:r>
          </a:p>
          <a:p>
            <a:pPr marL="285750" indent="-285750"/>
            <a:r>
              <a:rPr lang="en-US" dirty="0"/>
              <a:t>• Application Logic Tier: Modular PHP 8.2 business logic with FPDF 1.86 PDF compilation.</a:t>
            </a:r>
          </a:p>
          <a:p>
            <a:pPr marL="285750" indent="-285750"/>
            <a:r>
              <a:rPr lang="en-US" dirty="0"/>
              <a:t>• Data Persistence Tier: MySQL 8.0 relational database engine with foreign key relational integrity.</a:t>
            </a:r>
          </a:p>
          <a:p>
            <a:r>
              <a:rPr lang="en-US" dirty="0" b="1"/>
              <a:t>Data Flow Diagram (Level 0 — Context Diagram):</a:t>
            </a:r>
          </a:p>
          <a:p>
            <a:pPr marL="285750" indent="-285750"/>
            <a:r>
              <a:rPr lang="en-US" dirty="0"/>
              <a:t>• Connects four external entities (Doctor, Lab Technician, Receptionist/Cashier, Administrator) to Yala LIMS core process.</a:t>
            </a:r>
          </a:p>
          <a:p>
            <a:r>
              <a:rPr lang="en-US" dirty="0" b="1"/>
              <a:t>Data Flow Diagram (Level 1 — Functional Decomposition):</a:t>
            </a:r>
          </a:p>
          <a:p>
            <a:pPr marL="285750" indent="-285750"/>
            <a:r>
              <a:rPr lang="en-US" dirty="0"/>
              <a:t>• 1.0 Manage Patients | 2.0 Process Test Orders | 3.0 Record Results | 4.0 Reconcile Billing | 5.0 Manage Alerts | 6.0 Generate Analytics.</a:t>
            </a:r>
          </a:p>
          <a:p>
            <a:r>
              <a:rPr lang="en-US" dirty="0" b="1"/>
              <a:t>Relational Database Schema (ERD):</a:t>
            </a:r>
          </a:p>
          <a:p>
            <a:pPr marL="285750" indent="-285750"/>
            <a:r>
              <a:rPr lang="en-US" dirty="0"/>
              <a:t>• Models 10 core tables: patients, lab_requests, lab_tests, test_results, payments, insurance_claims, appointments, clinical_flags, notifications, audit_log.</a:t>
            </a:r>
          </a:p>
        </p:txBody>
      </p:sp>
    </p:spTree>
    <p:extLst>
      <p:ext uri="{BB962C8B-B14F-4D97-AF65-F5344CB8AC3E}">
        <ns2:creationId val="1941546654"/>
      </p:ext>
    </p:extLst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b="1"/>
              <a:t>SYSTEM DESIGN cont..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Physical Database Schema Specifications:</a:t>
            </a:r>
          </a:p>
          <a:p>
            <a:pPr marL="285750" indent="-285750"/>
            <a:r>
              <a:rPr lang="en-US" dirty="0"/>
              <a:t>• `patients`: Stores unique `opd_number`, full demographics, insurance provider, policy number, registration timestamp.</a:t>
            </a:r>
          </a:p>
          <a:p>
            <a:pPr marL="285750" indent="-285750"/>
            <a:r>
              <a:rPr lang="en-US" dirty="0"/>
              <a:t>• `lab_requests`: Links patient ID, ordering clinician, request date, lifecycle status, and payment status.</a:t>
            </a:r>
          </a:p>
          <a:p>
            <a:pPr marL="285750" indent="-285750"/>
            <a:r>
              <a:rPr lang="en-US" dirty="0"/>
              <a:t>• `test_results`: Captures test ID, result value, units, normal reference range, technician remarks, entered-by user ID.</a:t>
            </a:r>
          </a:p>
          <a:p>
            <a:pPr marL="285750" indent="-285750"/>
            <a:r>
              <a:rPr lang="en-US" dirty="0"/>
              <a:t>• `payments`: Tracks amount paid, payment method (M-Pesa, Cash, Insurance, Waiver), claim reference, settlement date, cashier name.</a:t>
            </a:r>
          </a:p>
          <a:p>
            <a:pPr marL="285750" indent="-285750"/>
            <a:r>
              <a:rPr lang="en-US" dirty="0"/>
              <a:t>• `clinical_flags`: Stores critical clinical warnings (e.g., penicillin allergies) to alert clinicians prior to test ordering.</a:t>
            </a:r>
          </a:p>
          <a:p>
            <a:r>
              <a:rPr lang="en-US" dirty="0" b="1"/>
              <a:t>Role-Based Access Control (RBAC) Matrix:</a:t>
            </a:r>
          </a:p>
          <a:p>
            <a:pPr marL="285750" indent="-285750"/>
            <a:r>
              <a:rPr lang="en-US" dirty="0"/>
              <a:t>• Receptionist: Registration, CSV Import, Cashier, Appointments.</a:t>
            </a:r>
          </a:p>
          <a:p>
            <a:pPr marL="285750" indent="-285750"/>
            <a:r>
              <a:rPr lang="en-US" dirty="0"/>
              <a:t>• Doctor: Patient Search, History Review, CPOE Test Ordering, Allergy Alerts.</a:t>
            </a:r>
          </a:p>
          <a:p>
            <a:pPr marL="285750" indent="-285750"/>
            <a:r>
              <a:rPr lang="en-US" dirty="0"/>
              <a:t>• Lab Tech: Accessioning Queue, Results Entry, Certificate Printing.</a:t>
            </a:r>
          </a:p>
          <a:p>
            <a:pPr marL="285750" indent="-285750"/>
            <a:r>
              <a:rPr lang="en-US" dirty="0"/>
              <a:t>• Admin: Full Access, User Management, Catalogue Pricing, Audit Trail, SQL Backups.</a:t>
            </a:r>
          </a:p>
        </p:txBody>
      </p:sp>
    </p:spTree>
    <p:extLst>
      <p:ext uri="{BB962C8B-B14F-4D97-AF65-F5344CB8AC3E}">
        <ns2:creationId val="603855472"/>
      </p:ext>
    </p:extLst>
  </p:cSld>
  <p:clrMapOvr>
    <a:masterClrMapping/>
  </p:clrMapOvr>
</p:sld>
</file>

<file path=ppt/slides/slide17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b="1"/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Core Operational Modules Deployed:</a:t>
            </a:r>
          </a:p>
          <a:p>
            <a:pPr marL="285750" indent="-285750"/>
            <a:r>
              <a:rPr lang="en-US" dirty="0"/>
              <a:t>• Authentication (`index.php`): Secure login with bcrypt password verification and role-based session routing.</a:t>
            </a:r>
          </a:p>
          <a:p>
            <a:pPr marL="285750" indent="-285750"/>
            <a:r>
              <a:rPr lang="en-US" dirty="0"/>
              <a:t>• Patient Registration (`add_patient.php` &amp; `import_patients.php`): OPD uniqueness validation and bulk CSV archiving.</a:t>
            </a:r>
          </a:p>
          <a:p>
            <a:pPr marL="285750" indent="-285750"/>
            <a:r>
              <a:rPr lang="en-US" dirty="0"/>
              <a:t>• Doctor CPOE Console (`request_test.php`): Interactive ordering with active penicillin allergy clinical safety warnings.</a:t>
            </a:r>
          </a:p>
          <a:p>
            <a:pPr marL="285750" indent="-285750"/>
            <a:r>
              <a:rPr lang="en-US" dirty="0"/>
              <a:t>• Lab Workbench (`enter_results.php`): Accessioning queue, 2-hour overdue badges, reference ranges, and FPDF reports.</a:t>
            </a:r>
          </a:p>
          <a:p>
            <a:pPr marL="285750" indent="-285750"/>
            <a:r>
              <a:rPr lang="en-US" dirty="0"/>
              <a:t>• Cashier Billing (`billing.php`): Multi-channel settlement with M-Pesa transaction code and cash receipt recording.</a:t>
            </a:r>
          </a:p>
          <a:p>
            <a:pPr marL="285750" indent="-285750"/>
            <a:r>
              <a:rPr lang="en-US" dirty="0"/>
              <a:t>• Claims &amp; Appointments (`insurance_claims.php` &amp; `appointments.php`): SHA/NHIF claim tracking and clinic scheduler.</a:t>
            </a:r>
          </a:p>
          <a:p>
            <a:pPr marL="285750" indent="-285750"/>
            <a:r>
              <a:rPr lang="en-US" dirty="0"/>
              <a:t>• Admin Analytics (`reports.php`): Chart.js 7-day workload trends, gender breakdown, top tests, and revenue summaries.</a:t>
            </a:r>
          </a:p>
          <a:p>
            <a:r>
              <a:rPr lang="en-US" dirty="0" b="1"/>
              <a:t>Quality Assurance &amp; Verification:</a:t>
            </a:r>
          </a:p>
          <a:p>
            <a:pPr marL="285750" indent="-285750"/>
            <a:r>
              <a:rPr lang="en-US" dirty="0"/>
              <a:t>• System Testing: 14 test cases covering functional, billing, and security flows achieved 100% Pass Rate.</a:t>
            </a:r>
          </a:p>
          <a:p>
            <a:pPr marL="285750" indent="-285750"/>
            <a:r>
              <a:rPr lang="en-US" dirty="0"/>
              <a:t>• User Acceptance Testing (UAT): Evaluated with 8 hospital staff members; achieved an overall satisfaction of 4.6 / 5.0.</a:t>
            </a:r>
          </a:p>
        </p:txBody>
      </p:sp>
    </p:spTree>
    <p:extLst>
      <p:ext uri="{BB962C8B-B14F-4D97-AF65-F5344CB8AC3E}">
        <ns2:creationId val="1851290588"/>
      </p:ext>
    </p:extLst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b="1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Project Success Degree:</a:t>
            </a:r>
          </a:p>
          <a:p>
            <a:pPr marL="285750" indent="-285750"/>
            <a:r>
              <a:rPr lang="en-US" dirty="0"/>
              <a:t>• 100% of general and specific objectives were successfully designed, developed, and verified.</a:t>
            </a:r>
          </a:p>
          <a:p>
            <a:pPr marL="285750" indent="-285750"/>
            <a:r>
              <a:rPr lang="en-US" dirty="0"/>
              <a:t>• The system is operational and deployed on the host computer at Yala Sub-County Hospital.</a:t>
            </a:r>
          </a:p>
          <a:p>
            <a:r>
              <a:rPr lang="en-US" dirty="0" b="1"/>
              <a:t>Measurable Operational Impact at Yala Hospital:</a:t>
            </a:r>
          </a:p>
          <a:p>
            <a:pPr marL="285750" indent="-285750"/>
            <a:r>
              <a:rPr lang="en-US" dirty="0"/>
              <a:t>• Missing Result Slips: Reduced from ~12% monthly to 0% through centralized electronic storage.</a:t>
            </a:r>
          </a:p>
          <a:p>
            <a:pPr marL="285750" indent="-285750"/>
            <a:r>
              <a:rPr lang="en-US" dirty="0"/>
              <a:t>• Transcription Errors: Eliminated illegible clinician handwriting through computerized ordering (CPOE).</a:t>
            </a:r>
          </a:p>
          <a:p>
            <a:pPr marL="285750" indent="-285750"/>
            <a:r>
              <a:rPr lang="en-US" dirty="0"/>
              <a:t>• Turnaround Time: Accelerated specimen processing using visual queues with 2-hour overdue alerts.</a:t>
            </a:r>
          </a:p>
          <a:p>
            <a:pPr marL="285750" indent="-285750"/>
            <a:r>
              <a:rPr lang="en-US" dirty="0"/>
              <a:t>• Reporting Efficiency: Reduced monthly MOH report compilation from 2 full working days to instant automated generation.</a:t>
            </a:r>
          </a:p>
          <a:p>
            <a:pPr marL="285750" indent="-285750"/>
            <a:r>
              <a:rPr lang="en-US" dirty="0"/>
              <a:t>• Financial Governance: Closed revenue leakage through automated payment gatekeeping before results release.</a:t>
            </a:r>
          </a:p>
          <a:p>
            <a:r>
              <a:rPr lang="en-US" dirty="0" b="1"/>
              <a:t>Staff Endorsement:</a:t>
            </a:r>
          </a:p>
          <a:p>
            <a:pPr marL="285750" indent="-285750"/>
            <a:r>
              <a:rPr lang="en-US" dirty="0"/>
              <a:t>• 100% of UAT participants expressed a decisive preference for the digital LIMS over manual paper registers.</a:t>
            </a:r>
          </a:p>
        </p:txBody>
      </p:sp>
    </p:spTree>
    <p:extLst>
      <p:ext uri="{BB962C8B-B14F-4D97-AF65-F5344CB8AC3E}">
        <ns2:creationId val="1910023071"/>
      </p:ext>
    </p:extLst>
  </p:cSld>
  <p:clrMapOvr>
    <a:masterClrMapping/>
  </p:clrMapOvr>
</p:sld>
</file>

<file path=ppt/slides/slide19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982133"/>
            <a:ext cx="9601196" cy="832600"/>
          </a:xfrm>
        </p:spPr>
        <p:txBody>
          <a:bodyPr>
            <a:normAutofit/>
          </a:bodyPr>
          <a:lstStyle/>
          <a:p>
            <a:r>
              <a:rPr lang="en-US" dirty="0" b="1"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b="1"/>
              <a:t>Future Enhancement Roadmap:</a:t>
            </a:r>
          </a:p>
          <a:p>
            <a:pPr marL="285750" indent="-285750"/>
            <a:r>
              <a:rPr lang="en-US" dirty="0"/>
              <a:t>• Phase 2: Barcode Specimen Tube Labelling: Integrate thermal label printers to print unique specimen barcodes upon accessioning.</a:t>
            </a:r>
          </a:p>
          <a:p>
            <a:pPr marL="285750" indent="-285750"/>
            <a:r>
              <a:rPr lang="en-US" dirty="0"/>
              <a:t>• Phase 3: National MOH Platform Integration: Implement REST APIs to push monthly epidemiological data directly into Kenya's DHIS2 / KHIS.</a:t>
            </a:r>
          </a:p>
          <a:p>
            <a:pPr marL="285750" indent="-285750"/>
            <a:r>
              <a:rPr lang="en-US" dirty="0"/>
              <a:t>• Phase 4: Direct Analyzer Interfacing: Establish bidirectional RS-232 / HL7 serial communication with automated clinical chemistry and haematology machines.</a:t>
            </a:r>
          </a:p>
          <a:p>
            <a:r>
              <a:rPr lang="en-US" dirty="0" b="1"/>
              <a:t>Operational &amp; Infrastructure Recommendations:</a:t>
            </a:r>
          </a:p>
          <a:p>
            <a:pPr marL="285750" indent="-285750"/>
            <a:r>
              <a:rPr lang="en-US" dirty="0"/>
              <a:t>• Server Environment: Migrate production deployment from Windows XAMPP to an enterprise Linux Ubuntu Server LAMP stack.</a:t>
            </a:r>
          </a:p>
          <a:p>
            <a:pPr marL="285750" indent="-285750"/>
            <a:r>
              <a:rPr lang="en-US" dirty="0"/>
              <a:t>• Hardware Redundancy: Maintain dedicated 650VA UPS units on the server host to prevent abrupt shutdowns during power surges.</a:t>
            </a:r>
          </a:p>
          <a:p>
            <a:pPr marL="285750" indent="-285750"/>
            <a:r>
              <a:rPr lang="en-US" dirty="0"/>
              <a:t>• County Scale-Up: Replicate the Yala LIMS codebase across neighboring Level 4 sub-county hospitals in Siaya County.</a:t>
            </a:r>
          </a:p>
        </p:txBody>
      </p:sp>
    </p:spTree>
    <p:extLst>
      <p:ext uri="{BB962C8B-B14F-4D97-AF65-F5344CB8AC3E}">
        <ns2:creationId val="65520510"/>
      </p:ext>
    </p:extLst>
  </p:cSld>
  <p:clrMapOvr>
    <a:masterClrMapping/>
  </p:clrMapOvr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rPr lang="en-US" dirty="0" b="1"/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/>
            <a:r>
              <a:rPr lang="en-US" dirty="0"/>
              <a:t>• Ministry of Health Kenya (2020). Standard Operating Procedures for Laboratory Services in Public Health Facilities. Nairobi.</a:t>
            </a:r>
          </a:p>
          <a:p>
            <a:pPr marL="285750" indent="-285750"/>
            <a:r>
              <a:rPr lang="en-US" dirty="0"/>
              <a:t>• Ministry of Health Kenya (2016). Kenya National eHealth Policy 2016–2030. Nairobi: Government Printer.</a:t>
            </a:r>
          </a:p>
          <a:p>
            <a:pPr marL="285750" indent="-285750"/>
            <a:r>
              <a:rPr lang="en-US" dirty="0"/>
              <a:t>• OpenMRS Community (2021). OpenMRS Developer Documentation. Available at: https://openmrs.org/</a:t>
            </a:r>
          </a:p>
          <a:p>
            <a:pPr marL="285750" indent="-285750"/>
            <a:r>
              <a:rPr lang="en-US" dirty="0"/>
              <a:t>• Pressman, R. S. (2014). Software Engineering: A Practitioner's Approach (8th ed.). McGraw-Hill Education.</a:t>
            </a:r>
          </a:p>
          <a:p>
            <a:pPr marL="285750" indent="-285750"/>
            <a:r>
              <a:rPr lang="en-US" dirty="0"/>
              <a:t>• Sepulveda, M. J., &amp; Young, W. B. (2013). The Ideal Laboratory Information System. Archives of Pathology &amp; Laboratory Medicine, 137(8), 1129–1140.</a:t>
            </a:r>
          </a:p>
          <a:p>
            <a:pPr marL="285750" indent="-285750"/>
            <a:r>
              <a:rPr lang="en-US" dirty="0"/>
              <a:t>• Sommerville, I. (2016). Software Engineering (10th ed.). Boston: Pearson Education.</a:t>
            </a:r>
          </a:p>
          <a:p>
            <a:pPr marL="285750" indent="-285750"/>
            <a:r>
              <a:rPr lang="en-US" dirty="0"/>
              <a:t>• World Health Organization (2020). Digital Implementation Investment Guide (DIIG). Geneva: WHO.</a:t>
            </a:r>
          </a:p>
          <a:p>
            <a:pPr marL="285750" indent="-285750"/>
            <a:r>
              <a:rPr lang="en-US" dirty="0"/>
              <a:t>• OWASP Foundation (2023). OWASP Top Ten Web Application Security Risks. Available at: https://owasp.org/</a:t>
            </a:r>
          </a:p>
        </p:txBody>
      </p:sp>
    </p:spTree>
    <p:extLst>
      <p:ext uri="{BB962C8B-B14F-4D97-AF65-F5344CB8AC3E}">
        <ns3:creationId val="3857995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2575</TotalTime>
  <Words>49</Words>
  <Application>Microsoft Macintosh PowerPoint</Application>
  <PresentationFormat>Widescreen</PresentationFormat>
  <Paragraphs>33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Cambria</vt:lpstr>
      <vt:lpstr>Garamond</vt:lpstr>
      <vt:lpstr>Wingdings</vt:lpstr>
      <vt:lpstr>Organic</vt:lpstr>
      <vt:lpstr>PROJECT B</vt:lpstr>
      <vt:lpstr>  INTRODUCTION  </vt:lpstr>
      <vt:lpstr>BACKGROUND STUDY</vt:lpstr>
      <vt:lpstr>  PROBLEM STATEMENT </vt:lpstr>
      <vt:lpstr>OBJECTIVES</vt:lpstr>
      <vt:lpstr>SCOPE </vt:lpstr>
      <vt:lpstr>JUSTIFICATION</vt:lpstr>
      <vt:lpstr>PowerPoint Presentation</vt:lpstr>
      <vt:lpstr>PROJECT SCHEDULE </vt:lpstr>
      <vt:lpstr>LITERATURE REVIEW</vt:lpstr>
      <vt:lpstr>LITERATURE REVIEW cont.</vt:lpstr>
      <vt:lpstr>METHODOLOGY/DEVELOPMENT TOOLS </vt:lpstr>
      <vt:lpstr>SYSTEM ANALYSIS AND REQUIREMENTS MODELING </vt:lpstr>
      <vt:lpstr>SYSTEM ANALYSIS AND REQUIREMENTS MODELING cont.’</vt:lpstr>
      <vt:lpstr>SYSTEM DESIGN</vt:lpstr>
      <vt:lpstr>SYSTEM DESIGN cont..</vt:lpstr>
      <vt:lpstr>IMPLEMENTATION</vt:lpstr>
      <vt:lpstr>CONCLUSIONS</vt:lpstr>
      <vt:lpstr>RECOMMENDATIONS</vt:lpstr>
      <vt:lpstr>REFERENCES 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Microsoft Office User</cp:lastModifiedBy>
  <cp:revision>52</cp:revision>
  <dcterms:created xsi:type="dcterms:W3CDTF">2018-07-03T20:09:46Z</dcterms:created>
  <dcterms:modified xsi:type="dcterms:W3CDTF">2021-08-12T05:30:59Z</dcterms:modified>
</cp:coreProperties>
</file>