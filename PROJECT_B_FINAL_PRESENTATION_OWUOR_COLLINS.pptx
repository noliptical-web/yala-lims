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79" r:id="rId9"/>
    <p:sldId id="278" r:id="rId10"/>
    <p:sldId id="270" r:id="rId11"/>
    <p:sldId id="280" r:id="rId12"/>
    <p:sldId id="268" r:id="rId13"/>
    <p:sldId id="272" r:id="rId14"/>
    <p:sldId id="277" r:id="rId15"/>
    <p:sldId id="281" r:id="rId16"/>
    <p:sldId id="286" r:id="rId17"/>
    <p:sldId id="283" r:id="rId18"/>
    <p:sldId id="284" r:id="rId19"/>
    <p:sldId id="28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16" autoAdjust="0"/>
    <p:restoredTop sz="95179" autoAdjust="0"/>
  </p:normalViewPr>
  <p:slideViewPr>
    <p:cSldViewPr snapToGrid="0">
      <p:cViewPr varScale="1">
        <p:scale>
          <a:sx n="59" d="100"/>
          <a:sy n="59" d="100"/>
        </p:scale>
        <p:origin x="956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2398" y="2533597"/>
            <a:ext cx="6815669" cy="446794"/>
          </a:xfrm>
        </p:spPr>
        <p:txBody>
          <a:bodyPr>
            <a:normAutofit fontScale="90000"/>
          </a:bodyPr>
          <a:lstStyle/>
          <a:p>
            <a:pPr>
              <a:defRPr sz="2400" b="1"/>
            </a:pPr>
            <a:r>
              <a:t>LABORATORY INFORMATION MANAGEMENT SYSTEM FOR YALA SUB-COUNTY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14005" y="3291840"/>
            <a:ext cx="6894062" cy="2560320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 sz="1600" b="1"/>
            </a:pPr>
            <a:r>
              <a:rPr dirty="0"/>
              <a:t>Final Project Defense Presentation (Project B)</a:t>
            </a:r>
          </a:p>
          <a:p>
            <a:pPr>
              <a:spcAft>
                <a:spcPts val="400"/>
              </a:spcAft>
              <a:defRPr sz="1400" b="0"/>
            </a:pPr>
            <a:r>
              <a:rPr dirty="0"/>
              <a:t>Candidate: Owuor Collins  |  Reg No: SCCI/01227/2022</a:t>
            </a:r>
          </a:p>
          <a:p>
            <a:pPr>
              <a:spcAft>
                <a:spcPts val="400"/>
              </a:spcAft>
              <a:defRPr sz="1300" b="0"/>
            </a:pPr>
            <a:r>
              <a:rPr dirty="0" err="1"/>
              <a:t>Programme</a:t>
            </a:r>
            <a:r>
              <a:rPr dirty="0"/>
              <a:t>: Bachelor of Technology in Information Technology</a:t>
            </a:r>
          </a:p>
          <a:p>
            <a:pPr>
              <a:spcAft>
                <a:spcPts val="400"/>
              </a:spcAft>
              <a:defRPr sz="1300" b="0"/>
            </a:pPr>
            <a:r>
              <a:rPr dirty="0"/>
              <a:t>Institution: The Technical University of Kenya (TUK) — SCIT</a:t>
            </a:r>
          </a:p>
          <a:p>
            <a:pPr>
              <a:spcAft>
                <a:spcPts val="400"/>
              </a:spcAft>
              <a:defRPr sz="1300" b="0"/>
            </a:pPr>
            <a:r>
              <a:rPr dirty="0"/>
              <a:t>Supervisors: Dr. Edwin Ngwawe &amp; Mr. Peter Maina Kariuki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Academic Year: 2025 / 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769449" y="1870140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10416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517436"/>
            <a:ext cx="9601196" cy="721276"/>
          </a:xfrm>
        </p:spPr>
        <p:txBody>
          <a:bodyPr>
            <a:normAutofit fontScale="90000"/>
          </a:bodyPr>
          <a:lstStyle/>
          <a:p>
            <a: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014330"/>
            <a:ext cx="9601196" cy="3861538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Digital Health Transition: Modernizing public healthcare delivery in line with Kenya eHealth Policy.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Facility Profile: Yala Sub-County Hospital — Level 4 primary referral center in Siaya County.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Clinical Dependency: Over 70% of medical diagnoses depend directly on reliable laboratory tests.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Pre-System Reality: Manual paper registers caused prolonged turnaround times, sample loss, and billing leaks.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Delivered Solution: A localized, web-based LIMS operating securely on the hospital intranet.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Operational Impact: Automated diagnostic flow from patient triage to certified PDF test results.</a:t>
            </a:r>
          </a:p>
        </p:txBody>
      </p:sp>
    </p:spTree>
    <p:extLst>
      <p:ext uri="{BB962C8B-B14F-4D97-AF65-F5344CB8AC3E}">
        <p14:creationId xmlns:p14="http://schemas.microsoft.com/office/powerpoint/2010/main" val="187293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499464"/>
            <a:ext cx="9601196" cy="859920"/>
          </a:xfrm>
        </p:spPr>
        <p:txBody>
          <a:bodyPr/>
          <a:lstStyle/>
          <a:p>
            <a:r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1645920"/>
            <a:ext cx="9601196" cy="4572000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Hospital Profile: Level 4 public facility in Gem Sub-County along the busy Kisumu–Busia highway.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High Catchment Volume: Serves large outpatient numbers, maternal ANC clinics, and emergency admissions.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Manual Workflow: Relied on physical paper MOH 204 books, carbon-copy slips, and manual registers.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Information Fragmentation: Paper request slips were frequently misplaced in transit between wards and lab.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Revenue Challenges: Manual cash handling at counters led to unreceipted fee leakages.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Modernization Imperative: Transitioning to connected digital workflows for ordering, bench testing, and billing.</a:t>
            </a:r>
          </a:p>
        </p:txBody>
      </p:sp>
    </p:spTree>
    <p:extLst>
      <p:ext uri="{BB962C8B-B14F-4D97-AF65-F5344CB8AC3E}">
        <p14:creationId xmlns:p14="http://schemas.microsoft.com/office/powerpoint/2010/main" val="380726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548797"/>
            <a:ext cx="9601196" cy="912780"/>
          </a:xfrm>
        </p:spPr>
        <p:txBody>
          <a:bodyPr>
            <a:normAutofit fontScale="90000"/>
          </a:bodyPr>
          <a:lstStyle/>
          <a:p>
            <a: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606759"/>
            <a:ext cx="9601196" cy="3861538"/>
          </a:xfrm>
        </p:spPr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r>
              <a:t>Prolonged Turnaround Times (TAT): Manual routing of paper requests caused severe diagnostic delays.</a:t>
            </a:r>
          </a:p>
          <a:p>
            <a:pPr>
              <a:spcAft>
                <a:spcPts val="500"/>
              </a:spcAft>
              <a:defRPr sz="1400" b="0"/>
            </a:pPr>
            <a:r>
              <a:t>Transcription Errors: Illegible clinician handwriting caused bench interpretation mistakes.</a:t>
            </a:r>
          </a:p>
          <a:p>
            <a:pPr>
              <a:spcAft>
                <a:spcPts val="500"/>
              </a:spcAft>
              <a:defRPr sz="1400" b="0"/>
            </a:pPr>
            <a:r>
              <a:t>Missing Patient Slips: Lost result slips forced repeat phlebotomy sampling and frustrated patients.</a:t>
            </a:r>
          </a:p>
          <a:p>
            <a:pPr>
              <a:spcAft>
                <a:spcPts val="500"/>
              </a:spcAft>
              <a:defRPr sz="1400" b="0"/>
            </a:pPr>
            <a:r>
              <a:t>Absence of Panic Alerts: Critical life-threatening results (Hb &lt; 6.0 g/dL, Malaria +++) lacked urgent flags.</a:t>
            </a:r>
          </a:p>
          <a:p>
            <a:pPr>
              <a:spcAft>
                <a:spcPts val="500"/>
              </a:spcAft>
              <a:defRPr sz="1400" b="0"/>
            </a:pPr>
            <a:r>
              <a:t>Tedious MOH 706 Tallying: Compiling monthly epidemiological reports required days of manual paper counts.</a:t>
            </a:r>
          </a:p>
          <a:p>
            <a:pPr>
              <a:spcAft>
                <a:spcPts val="0"/>
              </a:spcAft>
              <a:defRPr sz="1400" b="0"/>
            </a:pPr>
            <a:r>
              <a:t>Cash Revenue Leakage: Cash transactions at hospital counters violated public finance cashless laws.</a:t>
            </a:r>
          </a:p>
        </p:txBody>
      </p:sp>
    </p:spTree>
    <p:extLst>
      <p:ext uri="{BB962C8B-B14F-4D97-AF65-F5344CB8AC3E}">
        <p14:creationId xmlns:p14="http://schemas.microsoft.com/office/powerpoint/2010/main" val="1629994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577" y="564478"/>
            <a:ext cx="9601196" cy="950067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683026"/>
            <a:ext cx="9601196" cy="4412974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 sz="1500" b="1"/>
            </a:pPr>
            <a:endParaRPr lang="en-US" dirty="0"/>
          </a:p>
          <a:p>
            <a:pPr>
              <a:spcAft>
                <a:spcPts val="400"/>
              </a:spcAft>
              <a:defRPr sz="1500" b="1"/>
            </a:pPr>
            <a:endParaRPr lang="en-US" dirty="0"/>
          </a:p>
          <a:p>
            <a:pPr>
              <a:spcAft>
                <a:spcPts val="400"/>
              </a:spcAft>
              <a:defRPr sz="1500" b="1"/>
            </a:pPr>
            <a:endParaRPr lang="en-US" dirty="0"/>
          </a:p>
          <a:p>
            <a:pPr>
              <a:spcAft>
                <a:spcPts val="400"/>
              </a:spcAft>
              <a:defRPr sz="1500" b="1"/>
            </a:pPr>
            <a:r>
              <a:rPr dirty="0"/>
              <a:t>General Objective:</a:t>
            </a:r>
          </a:p>
          <a:p>
            <a:pPr>
              <a:spcAft>
                <a:spcPts val="800"/>
              </a:spcAft>
              <a:defRPr sz="1300" b="0"/>
            </a:pPr>
            <a:r>
              <a:rPr dirty="0"/>
              <a:t>To design, develop, and evaluate a web-based Laboratory Information Management System (LIMS) for Yala Sub-County Hospital to automate diagnostic workflows, ensure data accuracy, and improve clinical turnaround times.</a:t>
            </a:r>
          </a:p>
          <a:p>
            <a:pPr>
              <a:spcAft>
                <a:spcPts val="400"/>
              </a:spcAft>
              <a:defRPr sz="1500" b="1"/>
            </a:pPr>
            <a:r>
              <a:rPr dirty="0"/>
              <a:t>Specific Objectives (100% Achieved):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1. Analyze: Identified manual workflow bottlenecks across outpatient, clinical, and laboratory stations.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2. Design: Modeled 3-tier architecture, relational database schema, and role-based interfaces (RBAC).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3. Develop: Implemented MOH 204 routing, CPOE ordering, testing bench, panic alerts, and eCitizen billing (</a:t>
            </a:r>
            <a:r>
              <a:rPr dirty="0" err="1"/>
              <a:t>Paybill</a:t>
            </a:r>
            <a:r>
              <a:rPr dirty="0"/>
              <a:t> 222222).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4. Evaluate: Verified system functionality through 14 test cases and User Acceptance Testing (UAT 4.6/5.0).</a:t>
            </a:r>
          </a:p>
        </p:txBody>
      </p:sp>
    </p:spTree>
    <p:extLst>
      <p:ext uri="{BB962C8B-B14F-4D97-AF65-F5344CB8AC3E}">
        <p14:creationId xmlns:p14="http://schemas.microsoft.com/office/powerpoint/2010/main" val="9135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t>PROJECT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458474"/>
            <a:ext cx="9601196" cy="4800658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r>
              <a:rPr dirty="0"/>
              <a:t>In-Scope (Delivered Functionality):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Modular Web Stack: Built with PHP 8.2 and MySQL 8.0 on local Apache/XAMPP.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Role-Based Access Control: Strict boundaries for Receptionist, Doctor, Lab Tech, Cashier, Admin.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Outpatient Flow: OPD sequencing and printable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Workbench: Reference ranges, panic alerts, specimen rejection QA, and blood bank safety.</a:t>
            </a:r>
          </a:p>
          <a:p>
            <a:pPr>
              <a:spcAft>
                <a:spcPts val="600"/>
              </a:spcAft>
              <a:defRPr sz="1300" b="0"/>
            </a:pPr>
            <a:r>
              <a:rPr dirty="0"/>
              <a:t>• Digital Cashless Billing: Real-time settlement via Government eCitizen </a:t>
            </a:r>
            <a:r>
              <a:rPr dirty="0" err="1"/>
              <a:t>Paybill</a:t>
            </a:r>
            <a:r>
              <a:rPr dirty="0"/>
              <a:t> 222222.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Out-of-Scope (Deliberate Boundaries):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Direct serial hardware communication (RS-232/HL7) with physical analyzer machines.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Automated live REST API synchronization with National DHIS2 cloud servers.</a:t>
            </a:r>
          </a:p>
        </p:txBody>
      </p:sp>
    </p:spTree>
    <p:extLst>
      <p:ext uri="{BB962C8B-B14F-4D97-AF65-F5344CB8AC3E}">
        <p14:creationId xmlns:p14="http://schemas.microsoft.com/office/powerpoint/2010/main" val="207809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t>JUSTIFICATION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r>
              <a:t>Hospital Administration: Eliminated paper stationery expenses and sealed cash revenue leakages.</a:t>
            </a:r>
          </a:p>
          <a:p>
            <a:pPr>
              <a:spcAft>
                <a:spcPts val="500"/>
              </a:spcAft>
              <a:defRPr sz="1400" b="0"/>
            </a:pPr>
            <a:r>
              <a:t>Medical Clinicians: Instant digital access to longitudinal patient histories and critical panic alerts.</a:t>
            </a:r>
          </a:p>
          <a:p>
            <a:pPr>
              <a:spcAft>
                <a:spcPts val="500"/>
              </a:spcAft>
              <a:defRPr sz="1400" b="0"/>
            </a:pPr>
            <a:r>
              <a:t>Laboratory Technologists: Clear bench worklists, automated reference ranges, and 1-click MOH reports.</a:t>
            </a:r>
          </a:p>
          <a:p>
            <a:pPr>
              <a:spcAft>
                <a:spcPts val="500"/>
              </a:spcAft>
              <a:defRPr sz="1400" b="0"/>
            </a:pPr>
            <a:r>
              <a:t>Patients &amp; Community: Drastically reduced turnaround times and total elimination of lost result slips.</a:t>
            </a:r>
          </a:p>
          <a:p>
            <a:pPr>
              <a:spcAft>
                <a:spcPts val="0"/>
              </a:spcAft>
              <a:defRPr sz="1400" b="0"/>
            </a:pPr>
            <a:r>
              <a:t>Public Health Authorities: Real-time, reliable epidemiological data for Siaya County disease surveillance.</a:t>
            </a:r>
          </a:p>
        </p:txBody>
      </p:sp>
    </p:spTree>
    <p:extLst>
      <p:ext uri="{BB962C8B-B14F-4D97-AF65-F5344CB8AC3E}">
        <p14:creationId xmlns:p14="http://schemas.microsoft.com/office/powerpoint/2010/main" val="2411300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62094" y="815356"/>
            <a:ext cx="10277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200" b="1"/>
            </a:pPr>
            <a:r>
              <a:t>RESOURCE REQUIREMENTS &amp; BUDGET</a:t>
            </a: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Hardware Platform: Workstation desktop PCs, thermal barcode label printer, backup UPS units.</a:t>
            </a:r>
          </a:p>
          <a:p>
            <a:pPr>
              <a:spcAft>
                <a:spcPts val="500"/>
              </a:spcAft>
              <a:defRPr sz="1400" b="0"/>
            </a:pPr>
            <a:r>
              <a:t>Networking: Hospital Local Area Network (LAN) switches and intranet cabling infrastructure.</a:t>
            </a:r>
          </a:p>
          <a:p>
            <a:pPr>
              <a:spcAft>
                <a:spcPts val="500"/>
              </a:spcAft>
              <a:defRPr sz="1400" b="0"/>
            </a:pPr>
            <a:r>
              <a:t>Software Platform: PHP 8.2, MySQL 8.0, Apache/XAMPP, Windows OS (Zero license costs).</a:t>
            </a:r>
          </a:p>
          <a:p>
            <a:pPr>
              <a:spcAft>
                <a:spcPts val="500"/>
              </a:spcAft>
              <a:defRPr sz="1400" b="0"/>
            </a:pPr>
            <a:r>
              <a:t>Direct Capital Costs: Dedicated server host, LAN accessories, and UPS power units (KES 120,000).</a:t>
            </a:r>
          </a:p>
          <a:p>
            <a:pPr>
              <a:spcAft>
                <a:spcPts val="500"/>
              </a:spcAft>
              <a:defRPr sz="1400" b="0"/>
            </a:pPr>
            <a:r>
              <a:t>Indirect Costs: Staff training, operational onboarding, and ongoing maintenance (KES 50,000).</a:t>
            </a:r>
          </a:p>
          <a:p>
            <a:pPr>
              <a:spcAft>
                <a:spcPts val="0"/>
              </a:spcAft>
              <a:defRPr sz="1400" b="1"/>
            </a:pPr>
            <a:r>
              <a:t>Total Project Investment: KES 170,000 – 210,000 (Cost recovered through sealed revenue leakages).</a:t>
            </a:r>
          </a:p>
        </p:txBody>
      </p:sp>
    </p:spTree>
    <p:extLst>
      <p:ext uri="{BB962C8B-B14F-4D97-AF65-F5344CB8AC3E}">
        <p14:creationId xmlns:p14="http://schemas.microsoft.com/office/powerpoint/2010/main" val="4063582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t>PROJECT SCHEDULE &amp;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Agile Development Lifecycle: Executed across 4 iterative sprint cycles over the academic calendar.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1 (Analysis &amp; Inception): Contextual inquiries, manual workflow mapping, and SRS sign-off.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2 (Architecture &amp; UI): Relational schema design, UI wireframing, and RBAC authentication.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3 (Module Implementation): CPOE ordering, lab bench, blood bank, eCitizen, and notifications.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Sprint 4 (Testing &amp; Verification): 14 test cases, UAT evaluation (4.6/5.0), and hospital deployment.</a:t>
            </a:r>
          </a:p>
        </p:txBody>
      </p:sp>
    </p:spTree>
    <p:extLst>
      <p:ext uri="{BB962C8B-B14F-4D97-AF65-F5344CB8AC3E}">
        <p14:creationId xmlns:p14="http://schemas.microsoft.com/office/powerpoint/2010/main" val="596859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0856" y="608644"/>
            <a:ext cx="9601196" cy="1303867"/>
          </a:xfrm>
        </p:spPr>
        <p:txBody>
          <a:bodyPr>
            <a:normAutofit/>
          </a:bodyPr>
          <a:lstStyle/>
          <a:p>
            <a:r>
              <a:t>LITERATURE REVIEW: EXISTING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661375"/>
            <a:ext cx="9601196" cy="4673164"/>
          </a:xfrm>
        </p:spPr>
        <p:txBody>
          <a:bodyPr>
            <a:normAutofit/>
          </a:bodyPr>
          <a:lstStyle/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r>
              <a:rPr dirty="0"/>
              <a:t>Manual Paper Registers: Standard MOH paper books; prone to errors, damage, and search delays.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OpenMRS Community: Powerful open-source EMR, but complex and resource-intensive for small labs.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KenyaEMR: National standard for HIV/TB care; lacks full laboratory bench accessioning tools.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Commercial Proprietary LIMS: High functionality; prohibitive recurring annual license fees.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Cloud-Only Solutions: Scalable, but vulnerable to frequent rural internet disruptions in Gem Sub-County.</a:t>
            </a:r>
          </a:p>
          <a:p>
            <a:pPr>
              <a:spcAft>
                <a:spcPts val="0"/>
              </a:spcAft>
              <a:defRPr sz="1400" b="1"/>
            </a:pPr>
            <a:r>
              <a:rPr dirty="0"/>
              <a:t>Proposed Solution: Lightweight, locally hosted web intranet LIMS tailored for Level 4 facilities.</a:t>
            </a:r>
          </a:p>
        </p:txBody>
      </p:sp>
    </p:spTree>
    <p:extLst>
      <p:ext uri="{BB962C8B-B14F-4D97-AF65-F5344CB8AC3E}">
        <p14:creationId xmlns:p14="http://schemas.microsoft.com/office/powerpoint/2010/main" val="3029936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LITERATURE REVIEW: GAPS &amp;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Data Silos: Fragmented communication between reception, clinical consultation, and lab benches.</a:t>
            </a:r>
          </a:p>
          <a:p>
            <a:pPr>
              <a:spcAft>
                <a:spcPts val="500"/>
              </a:spcAft>
              <a:defRPr sz="1400" b="0"/>
            </a:pPr>
            <a:r>
              <a:t>Pre-Analytical Errors: Lack of specimen rejection tracking and phlebotomy quality assurance.</a:t>
            </a:r>
          </a:p>
          <a:p>
            <a:pPr>
              <a:spcAft>
                <a:spcPts val="500"/>
              </a:spcAft>
              <a:defRPr sz="1400" b="0"/>
            </a:pPr>
            <a:r>
              <a:t>Internet Dependency: Cloud-only systems fail during frequent rural network outages.</a:t>
            </a:r>
          </a:p>
          <a:p>
            <a:pPr>
              <a:spcAft>
                <a:spcPts val="500"/>
              </a:spcAft>
              <a:defRPr sz="1400" b="0"/>
            </a:pPr>
            <a:r>
              <a:t>Financial Compliance: Physical cash handling violates Kenya's public cashless directives.</a:t>
            </a:r>
          </a:p>
          <a:p>
            <a:pPr>
              <a:spcAft>
                <a:spcPts val="0"/>
              </a:spcAft>
              <a:defRPr sz="1400" b="1"/>
            </a:pPr>
            <a:r>
              <a:t>Delivered Solution: Offline-capable LAN intranet LIMS with eCitizen 222222 integration and ISO 15189 QA.</a:t>
            </a:r>
          </a:p>
        </p:txBody>
      </p:sp>
    </p:spTree>
    <p:extLst>
      <p:ext uri="{BB962C8B-B14F-4D97-AF65-F5344CB8AC3E}">
        <p14:creationId xmlns:p14="http://schemas.microsoft.com/office/powerpoint/2010/main" val="1292349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/>
          </a:bodyPr>
          <a:lstStyle/>
          <a:p>
            <a:r>
              <a:t>METHODOLOGY &amp; DEVELOPMENT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Development Model: Agile Software Development Life Cycle (iterative 2-week sprint cycles).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Requirements Gathering: Staff interviews, direct bench observation, and review of MOH 204/706 registers.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System Modeling: UML diagrams (Use Case, Activity, Class) and Data Flow Diagrams (Context, Level 1).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Technology Stack: PHP 8.2 backend, MySQL 8.0 database, Apache/XAMPP web server, Bootstrap 5.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Engineering Tools: Visual Studio Code, Git/GitHub version control, FPDF reporting library.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Quality Assurance: Unit testing, role-boundary integration testing, and User Acceptance Testing (UAT).</a:t>
            </a:r>
          </a:p>
        </p:txBody>
      </p:sp>
    </p:spTree>
    <p:extLst>
      <p:ext uri="{BB962C8B-B14F-4D97-AF65-F5344CB8AC3E}">
        <p14:creationId xmlns:p14="http://schemas.microsoft.com/office/powerpoint/2010/main" val="909837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SYSTEM ANALYSIS &amp; 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r>
              <a:rPr dirty="0"/>
              <a:t>Technical Feasibility: Verified stack runs seamlessly on hospital workstation PCs over LAN.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Operational Feasibility: UI mirrors physical MOH registers; staff achieved rapid proficiency.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Economic Feasibility: High return through eliminated stationery and recovered un-billed tests.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User Role Profiles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Receptionist: Patient triage, OPD registration, and eCitizen billing routing.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Doctor: Diagnostic requisitions, longitudinal history, and panic value review.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Lab Technologist: Sample accessioning, bench testing, QA logs, and blood bank safety.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Administrator: User accounts, test catalogue pricing, audit trails, and SQL backups.</a:t>
            </a:r>
          </a:p>
        </p:txBody>
      </p:sp>
    </p:spTree>
    <p:extLst>
      <p:ext uri="{BB962C8B-B14F-4D97-AF65-F5344CB8AC3E}">
        <p14:creationId xmlns:p14="http://schemas.microsoft.com/office/powerpoint/2010/main" val="667655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/>
          </a:bodyPr>
          <a:lstStyle/>
          <a:p>
            <a:r>
              <a:t>SYSTEM REQUIREMENTS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r>
              <a:rPr dirty="0"/>
              <a:t>Functional Requirements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Patient Registration: Unique OPD numbering and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CPOE Ordering: Categorized test catalogue with urgency flags and clinical allergy alerts.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Results Workbench: Normal reference ranges, automated panic alerting, and certified PDF printing.</a:t>
            </a:r>
          </a:p>
          <a:p>
            <a:pPr>
              <a:spcAft>
                <a:spcPts val="600"/>
              </a:spcAft>
              <a:defRPr sz="1300" b="0"/>
            </a:pPr>
            <a:r>
              <a:rPr dirty="0"/>
              <a:t>• Cashless Billing: Real-time settlement via Government eCitizen </a:t>
            </a:r>
            <a:r>
              <a:rPr dirty="0" err="1"/>
              <a:t>Paybill</a:t>
            </a:r>
            <a:r>
              <a:rPr dirty="0"/>
              <a:t> 222222 gateway.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Non-Functional Requirements Enforced: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Security: Role-Based Access Control, </a:t>
            </a:r>
            <a:r>
              <a:rPr dirty="0" err="1"/>
              <a:t>Bcrypt</a:t>
            </a:r>
            <a:r>
              <a:rPr dirty="0"/>
              <a:t> password hashing, and CSRF token defense.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Speed &amp; Performance: Sub-second page load times (&lt;1.5s) over the hospital Local Area Network.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Reliability: Automated daily database SQL backup scripts with manual admin trigger.</a:t>
            </a:r>
          </a:p>
        </p:txBody>
      </p:sp>
    </p:spTree>
    <p:extLst>
      <p:ext uri="{BB962C8B-B14F-4D97-AF65-F5344CB8AC3E}">
        <p14:creationId xmlns:p14="http://schemas.microsoft.com/office/powerpoint/2010/main" val="1898825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SYSTEM DESIGN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400" b="1"/>
            </a:pPr>
            <a:r>
              <a:t>3-Tier Client-Server Architecture:</a:t>
            </a:r>
          </a:p>
          <a:p>
            <a:pPr>
              <a:spcAft>
                <a:spcPts val="300"/>
              </a:spcAft>
              <a:defRPr sz="1300" b="0"/>
            </a:pPr>
            <a:r>
              <a:t>• Presentation Tier: Responsive Bootstrap 5, FontAwesome 6, and Chart.js dashboards.</a:t>
            </a:r>
          </a:p>
          <a:p>
            <a:pPr>
              <a:spcAft>
                <a:spcPts val="300"/>
              </a:spcAft>
              <a:defRPr sz="1300" b="0"/>
            </a:pPr>
            <a:r>
              <a:t>• Application Tier: Modular PHP 8.2 business logic with FPDF automated report engine.</a:t>
            </a:r>
          </a:p>
          <a:p>
            <a:pPr>
              <a:spcAft>
                <a:spcPts val="600"/>
              </a:spcAft>
              <a:defRPr sz="1300" b="0"/>
            </a:pPr>
            <a:r>
              <a:t>• Data Persistence Tier: MySQL 8.0 relational database with strict foreign key constraints.</a:t>
            </a:r>
          </a:p>
          <a:p>
            <a:pPr>
              <a:spcAft>
                <a:spcPts val="400"/>
              </a:spcAft>
              <a:defRPr sz="1400" b="1"/>
            </a:pPr>
            <a:r>
              <a:t>Data Flow Modeling:</a:t>
            </a:r>
          </a:p>
          <a:p>
            <a:pPr>
              <a:spcAft>
                <a:spcPts val="300"/>
              </a:spcAft>
              <a:defRPr sz="1300" b="0"/>
            </a:pPr>
            <a:r>
              <a:t>• Context Level 0 &amp; Level 1 DFDs connecting Reception, Doctor, Lab Tech, and Administrator.</a:t>
            </a:r>
          </a:p>
          <a:p>
            <a:pPr>
              <a:spcAft>
                <a:spcPts val="0"/>
              </a:spcAft>
              <a:defRPr sz="1300" b="0"/>
            </a:pPr>
            <a:r>
              <a:t>• Relational Database Schema: 12 normalized tables modeling patients, orders, results, payments, and QA.</a:t>
            </a:r>
          </a:p>
        </p:txBody>
      </p:sp>
    </p:spTree>
    <p:extLst>
      <p:ext uri="{BB962C8B-B14F-4D97-AF65-F5344CB8AC3E}">
        <p14:creationId xmlns:p14="http://schemas.microsoft.com/office/powerpoint/2010/main" val="1941546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DATABASE SCHEMA &amp; SECURITY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400" b="1"/>
            </a:pPr>
            <a:r>
              <a:t>Core Relational Tables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t>• `patients`: Unique OPD sequence, patient demographics, SHA/NHIF insurance policy data.</a:t>
            </a:r>
          </a:p>
          <a:p>
            <a:pPr>
              <a:spcAft>
                <a:spcPts val="300"/>
              </a:spcAft>
              <a:defRPr sz="1300" b="0"/>
            </a:pPr>
            <a:r>
              <a:t>• `lab_requests` &amp; `test_results`: Diagnostic ordering, normal reference ranges, and panic flags.</a:t>
            </a:r>
          </a:p>
          <a:p>
            <a:pPr>
              <a:spcAft>
                <a:spcPts val="300"/>
              </a:spcAft>
              <a:defRPr sz="1300" b="0"/>
            </a:pPr>
            <a:r>
              <a:t>• `payments`: Government eCitizen PRN references, M-Pesa transaction codes, and cashier audits.</a:t>
            </a:r>
          </a:p>
          <a:p>
            <a:pPr>
              <a:spcAft>
                <a:spcPts val="600"/>
              </a:spcAft>
              <a:defRPr sz="1300" b="0"/>
            </a:pPr>
            <a:r>
              <a:t>• `blood_bank` &amp; `sample_rejections`: Transfusion crossmatching and ISO 15189 pre-analytical QA.</a:t>
            </a:r>
          </a:p>
          <a:p>
            <a:pPr>
              <a:spcAft>
                <a:spcPts val="400"/>
              </a:spcAft>
              <a:defRPr sz="1400" b="1"/>
            </a:pPr>
            <a:r>
              <a:t>Security &amp; Privacy Enforcement:</a:t>
            </a:r>
          </a:p>
          <a:p>
            <a:pPr>
              <a:spcAft>
                <a:spcPts val="0"/>
              </a:spcAft>
              <a:defRPr sz="1300" b="0"/>
            </a:pPr>
            <a:r>
              <a:t>• Session encryption, 100% prepared SQL statements (SQL injection defense), and full audit logging.</a:t>
            </a:r>
          </a:p>
        </p:txBody>
      </p:sp>
    </p:spTree>
    <p:extLst>
      <p:ext uri="{BB962C8B-B14F-4D97-AF65-F5344CB8AC3E}">
        <p14:creationId xmlns:p14="http://schemas.microsoft.com/office/powerpoint/2010/main" val="603855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CORE MODULES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300"/>
              </a:spcAft>
              <a:defRPr sz="1300" b="0"/>
            </a:pPr>
            <a:r>
              <a:t>• Authentication &amp; RBAC (index.php): Secure login with Bcrypt hashing and role-based routing.</a:t>
            </a:r>
          </a:p>
          <a:p>
            <a:pPr>
              <a:spcAft>
                <a:spcPts val="300"/>
              </a:spcAft>
              <a:defRPr sz="1300" b="0"/>
            </a:pPr>
            <a:r>
              <a:t>• Outpatient Reception (add_patient.php): Triage vitals, Code128 routing slip, and check-in queue.</a:t>
            </a:r>
          </a:p>
          <a:p>
            <a:pPr>
              <a:spcAft>
                <a:spcPts val="300"/>
              </a:spcAft>
              <a:defRPr sz="1300" b="0"/>
            </a:pPr>
            <a:r>
              <a:t>• Doctor CPOE Console (request_test.php): Requisition ordering with clinical allergy flags.</a:t>
            </a:r>
          </a:p>
          <a:p>
            <a:pPr>
              <a:spcAft>
                <a:spcPts val="300"/>
              </a:spcAft>
              <a:defRPr sz="1300" b="0"/>
            </a:pPr>
            <a:r>
              <a:t>• Lab Workbench (enter_results.php): Reference ranges, panic toasts, and certified PDF printing.</a:t>
            </a:r>
          </a:p>
          <a:p>
            <a:pPr>
              <a:spcAft>
                <a:spcPts val="300"/>
              </a:spcAft>
              <a:defRPr sz="1300" b="0"/>
            </a:pPr>
            <a:r>
              <a:t>• eCitizen Cashless Billing (billing.php): Paybill 222222 settlement and A5 revenue receipting.</a:t>
            </a:r>
          </a:p>
          <a:p>
            <a:pPr>
              <a:spcAft>
                <a:spcPts val="300"/>
              </a:spcAft>
              <a:defRPr sz="1300" b="0"/>
            </a:pPr>
            <a:r>
              <a:t>• Blood Bank &amp; Specimen QA: Inpatient crossmatching and redraw alerts under ISO 15189.</a:t>
            </a:r>
          </a:p>
          <a:p>
            <a:pPr>
              <a:spcAft>
                <a:spcPts val="0"/>
              </a:spcAft>
              <a:defRPr sz="1300" b="0"/>
            </a:pPr>
            <a:r>
              <a:t>• MOH 706 Reports (reports.php): 1-click statistical export and turnaround-time (TAT) analytics.</a:t>
            </a:r>
          </a:p>
        </p:txBody>
      </p:sp>
    </p:spTree>
    <p:extLst>
      <p:ext uri="{BB962C8B-B14F-4D97-AF65-F5344CB8AC3E}">
        <p14:creationId xmlns:p14="http://schemas.microsoft.com/office/powerpoint/2010/main" val="1851290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TESTING &amp; OPERATIONAL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System Testing Verification: 14 test cases covering all functional flows achieved 100% Pass Rate.</a:t>
            </a:r>
          </a:p>
          <a:p>
            <a:pPr>
              <a:spcAft>
                <a:spcPts val="500"/>
              </a:spcAft>
              <a:defRPr sz="1400" b="0"/>
            </a:pPr>
            <a:r>
              <a:t>User Acceptance Testing (UAT): Conducted with 8 hospital staff; achieved satisfaction of 4.6 / 5.0.</a:t>
            </a:r>
          </a:p>
          <a:p>
            <a:pPr>
              <a:spcAft>
                <a:spcPts val="500"/>
              </a:spcAft>
              <a:defRPr sz="1400" b="0"/>
            </a:pPr>
            <a:r>
              <a:t>Missing Result Slips: Reduced from ~12% monthly to 0% through centralized electronic storage.</a:t>
            </a:r>
          </a:p>
          <a:p>
            <a:pPr>
              <a:spcAft>
                <a:spcPts val="500"/>
              </a:spcAft>
              <a:defRPr sz="1400" b="0"/>
            </a:pPr>
            <a:r>
              <a:t>Transcription Errors: Eliminated through computerized ordering and validated result entry.</a:t>
            </a:r>
          </a:p>
          <a:p>
            <a:pPr>
              <a:spcAft>
                <a:spcPts val="500"/>
              </a:spcAft>
              <a:defRPr sz="1400" b="0"/>
            </a:pPr>
            <a:r>
              <a:t>Reporting Time: Monthly MOH report compilation reduced from 2 full working days to 1 instant click.</a:t>
            </a:r>
          </a:p>
          <a:p>
            <a:pPr>
              <a:spcAft>
                <a:spcPts val="0"/>
              </a:spcAft>
              <a:defRPr sz="1400" b="0"/>
            </a:pPr>
            <a:r>
              <a:t>Staff Endorsement: 100% of participants preferred the digital LIMS over manual paper registers.</a:t>
            </a:r>
          </a:p>
        </p:txBody>
      </p:sp>
    </p:spTree>
    <p:extLst>
      <p:ext uri="{BB962C8B-B14F-4D97-AF65-F5344CB8AC3E}">
        <p14:creationId xmlns:p14="http://schemas.microsoft.com/office/powerpoint/2010/main" val="1910023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982133"/>
            <a:ext cx="9601196" cy="832600"/>
          </a:xfrm>
        </p:spPr>
        <p:txBody>
          <a:bodyPr>
            <a:normAutofit/>
          </a:bodyPr>
          <a:lstStyle/>
          <a:p>
            <a:r>
              <a:t>CONCLUSIONS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1"/>
            </a:pPr>
            <a:r>
              <a:t>Project Success: 100% of general and specific objectives successfully designed, built, and evaluated.</a:t>
            </a:r>
          </a:p>
          <a:p>
            <a:pPr>
              <a:spcAft>
                <a:spcPts val="500"/>
              </a:spcAft>
              <a:defRPr sz="1400" b="0"/>
            </a:pPr>
            <a:r>
              <a:t>Deployment: System is operational and deployed on the host computer at Yala Sub-County Hospital.</a:t>
            </a:r>
          </a:p>
          <a:p>
            <a:pPr>
              <a:spcAft>
                <a:spcPts val="500"/>
              </a:spcAft>
              <a:defRPr sz="1400" b="0"/>
            </a:pPr>
            <a:r>
              <a:t>Future Phase 2: Direct RS-232/HL7 serial interfacing with automated clinical chemistry analyzers.</a:t>
            </a:r>
          </a:p>
          <a:p>
            <a:pPr>
              <a:spcAft>
                <a:spcPts val="500"/>
              </a:spcAft>
              <a:defRPr sz="1400" b="0"/>
            </a:pPr>
            <a:r>
              <a:t>Future Phase 3: Automated REST API push to Kenya's national DHIS2 / KHIS epidemiological cloud.</a:t>
            </a:r>
          </a:p>
          <a:p>
            <a:pPr>
              <a:spcAft>
                <a:spcPts val="0"/>
              </a:spcAft>
              <a:defRPr sz="1400" b="0"/>
            </a:pPr>
            <a:r>
              <a:t>County Scale-Up: Replicate Yala LIMS codebase across neighboring Level 4 facilities in Siaya County.</a:t>
            </a:r>
          </a:p>
        </p:txBody>
      </p:sp>
    </p:spTree>
    <p:extLst>
      <p:ext uri="{BB962C8B-B14F-4D97-AF65-F5344CB8AC3E}">
        <p14:creationId xmlns:p14="http://schemas.microsoft.com/office/powerpoint/2010/main" val="65520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t>REFERENCES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400"/>
              </a:spcAft>
              <a:defRPr sz="1300" b="0"/>
            </a:pPr>
            <a:r>
              <a:t>• Ministry of Health Kenya (2020). Standard Operating Procedures for Laboratory Services. Nairobi.</a:t>
            </a:r>
          </a:p>
          <a:p>
            <a:pPr>
              <a:spcAft>
                <a:spcPts val="400"/>
              </a:spcAft>
              <a:defRPr sz="1300" b="0"/>
            </a:pPr>
            <a:r>
              <a:t>• Ministry of Health Kenya (2016). Kenya National eHealth Policy 2016–2030. Nairobi: Government Printer.</a:t>
            </a:r>
          </a:p>
          <a:p>
            <a:pPr>
              <a:spcAft>
                <a:spcPts val="400"/>
              </a:spcAft>
              <a:defRPr sz="1300" b="0"/>
            </a:pPr>
            <a:r>
              <a:t>• World Health Organization (2021). Digital Health Intervention Frameworks. Geneva: WHO.</a:t>
            </a:r>
          </a:p>
          <a:p>
            <a:pPr>
              <a:spcAft>
                <a:spcPts val="400"/>
              </a:spcAft>
              <a:defRPr sz="1300" b="0"/>
            </a:pPr>
            <a:r>
              <a:t>• ISO 15189:2022. Medical Laboratories — Requirements for Quality and Competence.</a:t>
            </a:r>
          </a:p>
          <a:p>
            <a:pPr>
              <a:spcAft>
                <a:spcPts val="400"/>
              </a:spcAft>
              <a:defRPr sz="1300" b="0"/>
            </a:pPr>
            <a:r>
              <a:t>• Pressman, R. S. (2014). Software Engineering: A Practitioner's Approach (8th ed.). McGraw-Hill.</a:t>
            </a:r>
          </a:p>
          <a:p>
            <a:pPr>
              <a:spcAft>
                <a:spcPts val="400"/>
              </a:spcAft>
              <a:defRPr sz="1300" b="0"/>
            </a:pPr>
            <a:r>
              <a:t>• Sommerville, I. (2016). Software Engineering (10th ed.). Boston: Pearson Education.</a:t>
            </a:r>
          </a:p>
          <a:p>
            <a:pPr>
              <a:spcAft>
                <a:spcPts val="0"/>
              </a:spcAft>
              <a:defRPr sz="1300" b="0"/>
            </a:pPr>
            <a:r>
              <a:t>• Kenya Law (2019). Data Protection Act, No. 24 of 2019. Nairobi: Government Printer.</a:t>
            </a:r>
          </a:p>
        </p:txBody>
      </p:sp>
    </p:spTree>
    <p:extLst>
      <p:ext uri="{BB962C8B-B14F-4D97-AF65-F5344CB8AC3E}">
        <p14:creationId xmlns:p14="http://schemas.microsoft.com/office/powerpoint/2010/main" val="38579955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2578</TotalTime>
  <Words>2071</Words>
  <Application>Microsoft Office PowerPoint</Application>
  <PresentationFormat>Widescreen</PresentationFormat>
  <Paragraphs>175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Cambria</vt:lpstr>
      <vt:lpstr>Garamond</vt:lpstr>
      <vt:lpstr>Organic</vt:lpstr>
      <vt:lpstr>LABORATORY INFORMATION MANAGEMENT SYSTEM FOR YALA SUB-COUNTY HOSPITAL</vt:lpstr>
      <vt:lpstr>INTRODUCTION</vt:lpstr>
      <vt:lpstr>BACKGROUND STUDY</vt:lpstr>
      <vt:lpstr>PROBLEM STATEMENT</vt:lpstr>
      <vt:lpstr> PROJECT OBJECTIVES</vt:lpstr>
      <vt:lpstr>PROJECT SCOPE</vt:lpstr>
      <vt:lpstr>JUSTIFICATION &amp; SIGNIFICANCE</vt:lpstr>
      <vt:lpstr>PowerPoint Presentation</vt:lpstr>
      <vt:lpstr>PROJECT SCHEDULE &amp; PHASES</vt:lpstr>
      <vt:lpstr>LITERATURE REVIEW: EXISTING SYSTEMS</vt:lpstr>
      <vt:lpstr>LITERATURE REVIEW: GAPS &amp; SOLUTION</vt:lpstr>
      <vt:lpstr>METHODOLOGY &amp; DEVELOPMENT TOOLS</vt:lpstr>
      <vt:lpstr> SYSTEM ANALYSIS &amp; FEASIBILITY STUDY</vt:lpstr>
      <vt:lpstr>SYSTEM REQUIREMENTS MODELING</vt:lpstr>
      <vt:lpstr>SYSTEM DESIGN &amp; ARCHITECTURE</vt:lpstr>
      <vt:lpstr>DATABASE SCHEMA &amp; SECURITY CONTROLS</vt:lpstr>
      <vt:lpstr>CORE MODULES IMPLEMENTED</vt:lpstr>
      <vt:lpstr>TESTING &amp; OPERATIONAL IMPACT</vt:lpstr>
      <vt:lpstr>CONCLUSIONS &amp; RECOMMENDATIONS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Noliptical .</cp:lastModifiedBy>
  <cp:revision>53</cp:revision>
  <dcterms:created xsi:type="dcterms:W3CDTF">2018-07-03T20:09:46Z</dcterms:created>
  <dcterms:modified xsi:type="dcterms:W3CDTF">2026-10-06T09:14:59Z</dcterms:modified>
</cp:coreProperties>
</file>